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AUTODESK UNIVERSITY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Autodesk Platform Services on 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977639"/>
            <a:ext cx="274320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E6E8EC"/>
                </a:solidFill>
                <a:latin typeface="Segoe UI"/>
              </a:rPr>
              <a:t>The design pipeline behind millions of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9FA8"/>
                </a:solidFill>
                <a:latin typeface="Segoe UI"/>
              </a:rPr>
              <a:t>Powered by AWS  ·  Durable storage  ·  Elastic compute  ·  Global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From a raw design file to a live 3D model in your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01168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08792" cy="21945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lnSpc>
                <a:spcPct val="125000"/>
              </a:lnSpc>
            </a:pPr>
            <a:r>
              <a:rPr sz="2400">
                <a:solidFill>
                  <a:srgbClr val="E6E8EC"/>
                </a:solidFill>
                <a:latin typeface="Segoe UI"/>
              </a:rPr>
              <a:t>A real engineering model, running live in a browser — no CAD software. It started as a raw design file: uploaded to Autodesk Platform Services, stored in the cloud, translated to a lightweight web format, and streamed right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34840"/>
            <a:ext cx="10908792" cy="1371600"/>
          </a:xfrm>
          <a:prstGeom prst="roundRect">
            <a:avLst/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Durable storage   ·   Compute that scales on demand   ·   Global low-latency delivery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 i="0">
                <a:solidFill>
                  <a:srgbClr val="FF9900"/>
                </a:solidFill>
                <a:latin typeface="Segoe UI"/>
              </a:rPr>
              <a:t>— all on 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FA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What you're seeing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01168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4754880" cy="4114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4206240" cy="3200400"/>
          </a:xfrm>
          <a:prstGeom prst="roundRect">
            <a:avLst/>
          </a:prstGeom>
          <a:solidFill>
            <a:srgbClr val="101218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6000" b="0" i="0">
                <a:solidFill>
                  <a:srgbClr val="FF9900"/>
                </a:solidFill>
                <a:latin typeface="Segoe UI"/>
              </a:rPr>
              <a:t>◱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3D CAD model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A9FA8"/>
                </a:solidFill>
                <a:latin typeface="Segoe UI"/>
              </a:rPr>
              <a:t>in a plain web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A9FA8"/>
                </a:solidFill>
                <a:latin typeface="Segoe UI"/>
              </a:rPr>
              <a:t>Same view on a phone — no plugin, no install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920240"/>
            <a:ext cx="5852160" cy="1207008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15000" y="1920240"/>
            <a:ext cx="109728" cy="1207008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066544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No workstation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8716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6E8EC"/>
                </a:solidFill>
                <a:latin typeface="Segoe UI"/>
              </a:rPr>
              <a:t>No high-end CAD rig — it runs in the cloud.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3310128"/>
            <a:ext cx="5852160" cy="1207008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5000" y="3310128"/>
            <a:ext cx="109728" cy="1207008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45643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Any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877056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6E8EC"/>
                </a:solidFill>
                <a:latin typeface="Segoe UI"/>
              </a:rPr>
              <a:t>Laptop, tablet or phone. Just a browser.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4700016"/>
            <a:ext cx="5852160" cy="1207008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15000" y="4700016"/>
            <a:ext cx="109728" cy="1207008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846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Instant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266944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6E8EC"/>
                </a:solidFill>
                <a:latin typeface="Segoe UI"/>
              </a:rPr>
              <a:t>Open a link and the model streams in seconds.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FA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The APS pipeline — five steps, left to 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01168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050084" cy="21488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050084" cy="566928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Segoe UI"/>
              </a:rPr>
              <a:t>1 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50084" cy="13716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.stl / .step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design 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1876" y="2971800"/>
            <a:ext cx="201168" cy="36576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54756" y="2148840"/>
            <a:ext cx="2050084" cy="21488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4756" y="2148840"/>
            <a:ext cx="2050084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  Authenticate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4756" y="2834640"/>
            <a:ext cx="2050084" cy="13716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APS OAuth 2.0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secure access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6552" y="2971800"/>
            <a:ext cx="201168" cy="36576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9432" y="2148840"/>
            <a:ext cx="2050084" cy="21488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69432" y="2148840"/>
            <a:ext cx="2050084" cy="566928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Segoe UI"/>
              </a:rPr>
              <a:t>3  Object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9432" y="2834640"/>
            <a:ext cx="2050084" cy="13716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APS OSS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cloud file store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1228" y="2971800"/>
            <a:ext cx="201168" cy="36576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84108" y="2148840"/>
            <a:ext cx="2050084" cy="21488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84108" y="2148840"/>
            <a:ext cx="2050084" cy="566928"/>
          </a:xfrm>
          <a:prstGeom prst="roundRect">
            <a:avLst/>
          </a:prstGeom>
          <a:solidFill>
            <a:srgbClr val="3B8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4  Model Derivative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108" y="2834640"/>
            <a:ext cx="2050084" cy="13716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Translate to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SVF2 web format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15904" y="2971800"/>
            <a:ext cx="201168" cy="36576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98784" y="2148840"/>
            <a:ext cx="2050084" cy="21488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98784" y="2148840"/>
            <a:ext cx="2050084" cy="56692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Segoe UI"/>
              </a:rPr>
              <a:t>5  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8784" y="2834640"/>
            <a:ext cx="2050084" cy="13716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APS Viewer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8EC"/>
                </a:solidFill>
                <a:latin typeface="Segoe UI"/>
              </a:rPr>
              <a:t>in the 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9900"/>
                </a:solidFill>
                <a:latin typeface="Segoe UI"/>
              </a:rPr>
              <a:t>The AWS building blocks underneath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2050084" cy="1005840"/>
          </a:xfrm>
          <a:prstGeom prst="roundRect">
            <a:avLst/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Durable storage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like Amazon S3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54756" y="4983480"/>
            <a:ext cx="2050084" cy="1005840"/>
          </a:xfrm>
          <a:prstGeom prst="roundRect">
            <a:avLst/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Enterprise identity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&amp; access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69432" y="4983480"/>
            <a:ext cx="2050084" cy="1005840"/>
          </a:xfrm>
          <a:prstGeom prst="roundRect">
            <a:avLst/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Durable object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storage (S3)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84108" y="4983480"/>
            <a:ext cx="2050084" cy="1005840"/>
          </a:xfrm>
          <a:prstGeom prst="roundRect">
            <a:avLst/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Scalable compute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on demand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8784" y="4983480"/>
            <a:ext cx="2050084" cy="1005840"/>
          </a:xfrm>
          <a:prstGeom prst="roundRect">
            <a:avLst/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Global delivery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like CloudFront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FA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How the demo is built on 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01168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965960" cy="105156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Browser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9FA8"/>
                </a:solidFill>
                <a:latin typeface="Segoe UI"/>
              </a:rPr>
              <a:t>APS Viewer SDK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240280"/>
            <a:ext cx="1965960" cy="105156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CloudFront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9FA8"/>
                </a:solidFill>
                <a:latin typeface="Segoe UI"/>
              </a:rPr>
              <a:t>CDN + TLS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240280"/>
            <a:ext cx="1965960" cy="105156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Cognito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9FA8"/>
                </a:solidFill>
                <a:latin typeface="Segoe UI"/>
              </a:rPr>
              <a:t>Sign-in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240280"/>
            <a:ext cx="1965960" cy="105156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3B8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ECS Fargate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9FA8"/>
                </a:solidFill>
                <a:latin typeface="Segoe UI"/>
              </a:rPr>
              <a:t>APS Node.js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240280"/>
            <a:ext cx="1965960" cy="105156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Autodesk APS APIs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9A9FA8"/>
                </a:solidFill>
                <a:latin typeface="Segoe UI"/>
              </a:rPr>
              <a:t>OSS + Model Derivative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87752" y="2624328"/>
            <a:ext cx="292608" cy="292608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828032" y="2624328"/>
            <a:ext cx="292608" cy="292608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068312" y="2624328"/>
            <a:ext cx="292608" cy="292608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308592" y="2624328"/>
            <a:ext cx="292608" cy="292608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60920" y="4160520"/>
            <a:ext cx="4206240" cy="114300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FF9900"/>
                </a:solidFill>
                <a:latin typeface="Segoe UI"/>
              </a:rPr>
              <a:t>Amazon S3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E6E8EC"/>
                </a:solidFill>
                <a:latin typeface="Segoe UI"/>
              </a:rPr>
              <a:t>Model files  ·  pre-signed URLs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281160" y="3291840"/>
            <a:ext cx="292608" cy="1051560"/>
          </a:xfrm>
          <a:prstGeom prst="down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9FA8"/>
                </a:solidFill>
                <a:latin typeface="Segoe UI"/>
              </a:rPr>
              <a:t>Requests flow left→right; model files persist in S3 and are served back to the viewer.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FA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PERSONA 1  · 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Ship it to AWS in plain English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01168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FF9900"/>
                </a:solidFill>
                <a:latin typeface="Segoe UI"/>
              </a:rPr>
              <a:t>▸  </a:t>
            </a:r>
            <a:r>
              <a:rPr sz="1900" b="0">
                <a:solidFill>
                  <a:srgbClr val="E6E8EC"/>
                </a:solidFill>
                <a:latin typeface="Segoe UI"/>
              </a:rPr>
              <a:t>Kiro is Amazon's agentic IDE, powered by Bedrock and Claude.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FF9900"/>
                </a:solidFill>
                <a:latin typeface="Segoe UI"/>
              </a:rPr>
              <a:t>▸  </a:t>
            </a:r>
            <a:r>
              <a:rPr sz="1900" b="0">
                <a:solidFill>
                  <a:srgbClr val="E6E8EC"/>
                </a:solidFill>
                <a:latin typeface="Segoe UI"/>
              </a:rPr>
              <a:t>Describe what you want in natural language.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FF9900"/>
                </a:solidFill>
                <a:latin typeface="Segoe UI"/>
              </a:rPr>
              <a:t>▸  </a:t>
            </a:r>
            <a:r>
              <a:rPr sz="1900" b="0">
                <a:solidFill>
                  <a:srgbClr val="E6E8EC"/>
                </a:solidFill>
                <a:latin typeface="Segoe UI"/>
              </a:rPr>
              <a:t>Kiro turns it into infrastructure-as-code.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FF9900"/>
                </a:solidFill>
                <a:latin typeface="Segoe UI"/>
              </a:rPr>
              <a:t>▸  </a:t>
            </a:r>
            <a:r>
              <a:rPr sz="1900" b="0">
                <a:solidFill>
                  <a:srgbClr val="E6E8EC"/>
                </a:solidFill>
                <a:latin typeface="Segoe UI"/>
              </a:rPr>
              <a:t>Deploys ECS Fargate + Amazon S3 + Cognito + CloudFront.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FF9900"/>
                </a:solidFill>
                <a:latin typeface="Segoe UI"/>
              </a:rPr>
              <a:t>▸  </a:t>
            </a:r>
            <a:r>
              <a:rPr sz="1900" b="0">
                <a:solidFill>
                  <a:srgbClr val="E6E8EC"/>
                </a:solidFill>
                <a:latin typeface="Segoe UI"/>
              </a:rPr>
              <a:t>From idea to running app — no hand-written templates.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193792" cy="4023360"/>
          </a:xfrm>
          <a:prstGeom prst="roundRect">
            <a:avLst/>
          </a:prstGeom>
          <a:solidFill>
            <a:srgbClr val="0A0B0E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274320" tIns="777240"/>
          <a:lstStyle/>
          <a:p>
            <a:pPr algn="ctr">
              <a:lnSpc>
                <a:spcPct val="125000"/>
              </a:lnSpc>
            </a:pPr>
            <a:r>
              <a:rPr sz="1800">
                <a:solidFill>
                  <a:srgbClr val="8FE388"/>
                </a:solidFill>
                <a:latin typeface="Consolas"/>
              </a:rPr>
              <a:t>"Deploy an APS viewer web app on AWS: a Node.js service on ECS Fargate behind CloudFront, an S3 bucket for uploaded model files, and Cognito for sign-in. Wire it to the Autodesk Model Derivative API."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20240"/>
            <a:ext cx="5193792" cy="457200"/>
          </a:xfrm>
          <a:prstGeom prst="roundRect">
            <a:avLst/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84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onsolas"/>
              </a:rPr>
              <a:t>▸ natural-language prompt to Kiro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FA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PERSONA 2  ·  BUSINESS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Design activity becomes business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01168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900" b="1">
                <a:solidFill>
                  <a:srgbClr val="FF9900"/>
                </a:solidFill>
                <a:latin typeface="Segoe UI"/>
              </a:rPr>
              <a:t>▸  </a:t>
            </a:r>
            <a:r>
              <a:rPr sz="1900" b="0">
                <a:solidFill>
                  <a:srgbClr val="E6E8EC"/>
                </a:solidFill>
                <a:latin typeface="Segoe UI"/>
              </a:rPr>
              <a:t>Amazon QuickSight dashboards over your APS activity.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900" b="1">
                <a:solidFill>
                  <a:srgbClr val="FF9900"/>
                </a:solidFill>
                <a:latin typeface="Segoe UI"/>
              </a:rPr>
              <a:t>▸  </a:t>
            </a:r>
            <a:r>
              <a:rPr sz="1900" b="0">
                <a:solidFill>
                  <a:srgbClr val="E6E8EC"/>
                </a:solidFill>
                <a:latin typeface="Segoe UI"/>
              </a:rPr>
              <a:t>No CAD software needed — just a browser.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900" b="1">
                <a:solidFill>
                  <a:srgbClr val="FF9900"/>
                </a:solidFill>
                <a:latin typeface="Segoe UI"/>
              </a:rPr>
              <a:t>▸  </a:t>
            </a:r>
            <a:r>
              <a:rPr sz="1900" b="0">
                <a:solidFill>
                  <a:srgbClr val="E6E8EC"/>
                </a:solidFill>
                <a:latin typeface="Segoe UI"/>
              </a:rPr>
              <a:t>Turn raw pipeline events into decisions.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900" b="1">
                <a:solidFill>
                  <a:srgbClr val="FF9900"/>
                </a:solidFill>
                <a:latin typeface="Segoe UI"/>
              </a:rPr>
              <a:t>▸  </a:t>
            </a:r>
            <a:r>
              <a:rPr sz="1900" b="0">
                <a:solidFill>
                  <a:srgbClr val="E6E8EC"/>
                </a:solidFill>
                <a:latin typeface="Segoe UI"/>
              </a:rPr>
              <a:t>Embed the same analytics inside your own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2487168" cy="14173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Models translated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This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20240"/>
            <a:ext cx="2487168" cy="914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61704" y="1920240"/>
            <a:ext cx="2487168" cy="14173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Avg translate time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Per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1704" y="1920240"/>
            <a:ext cx="2487168" cy="914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3593592"/>
            <a:ext cx="2487168" cy="14173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Storage used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GB in S3 / 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593592"/>
            <a:ext cx="2487168" cy="914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61704" y="3593592"/>
            <a:ext cx="2487168" cy="14173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Cost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Per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3593592"/>
            <a:ext cx="2487168" cy="914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FA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SUSTAINABILITY  · 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Ask your designs about their carbon footprint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01168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246120" cy="137160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Autodesk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Sustainability API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41064" y="2651760"/>
            <a:ext cx="384048" cy="36576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246120" cy="137160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MCP Server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Model Context Protocol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90104" y="2651760"/>
            <a:ext cx="384048" cy="36576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2148840"/>
            <a:ext cx="3246120" cy="137160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3B8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Bedrock + QuickSight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9A9FA8"/>
                </a:solidFill>
                <a:latin typeface="Segoe UI"/>
              </a:rPr>
              <a:t>Natural-language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908792" cy="14173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 i="0">
                <a:solidFill>
                  <a:srgbClr val="E6E8EC"/>
                </a:solidFill>
                <a:latin typeface="Segoe UI"/>
              </a:rPr>
              <a:t>Understand the carbon footprint of materials and designs — in plain language.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0" i="1">
                <a:solidFill>
                  <a:srgbClr val="FF9900"/>
                </a:solidFill>
                <a:latin typeface="Segoe UI"/>
              </a:rPr>
              <a:t>Ask: "Which material choice lowers this part's footprint the most?"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  <a:latin typeface="Segoe UI"/>
              </a:rPr>
              <a:t>Already working today: the Autodesk Product Help MCP server connects to Kiro.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FA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WHY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Four reasons this runs so well on 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01168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39496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28016" cy="18288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Durable &amp; secure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6E8EC"/>
                </a:solidFill>
                <a:latin typeface="Segoe UI"/>
              </a:rPr>
              <a:t>Model files kept safe and highly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011680"/>
            <a:ext cx="539496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2011680"/>
            <a:ext cx="128016" cy="1828800"/>
          </a:xfrm>
          <a:prstGeom prst="roundRect">
            <a:avLst/>
          </a:prstGeom>
          <a:solidFill>
            <a:srgbClr val="3B8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28600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Compute that scales to 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30632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6E8EC"/>
                </a:solidFill>
                <a:latin typeface="Segoe UI"/>
              </a:rPr>
              <a:t>Pay for translation only when it runs.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39496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28016" cy="18288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348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Global low-latency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1208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6E8EC"/>
                </a:solidFill>
                <a:latin typeface="Segoe UI"/>
              </a:rPr>
              <a:t>Stream models fast, anywhere in the world.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39496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4160520"/>
            <a:ext cx="128016" cy="18288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44348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Enterprise identity &amp;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521208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6E8EC"/>
                </a:solidFill>
                <a:latin typeface="Segoe UI"/>
              </a:rPr>
              <a:t>Sign-in, access control, and audit built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FA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AT THE BOOTH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Three things you can try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201168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08792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404872"/>
            <a:ext cx="566928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00000"/>
                </a:solidFill>
                <a:latin typeface="Segoe U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76856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Live APS Viewer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0720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8EC"/>
                </a:solidFill>
                <a:latin typeface="Segoe UI"/>
              </a:rPr>
              <a:t>Open a real 3D model in a plain browser — on your own 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38728"/>
            <a:ext cx="10908792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3886200"/>
            <a:ext cx="566928" cy="566928"/>
          </a:xfrm>
          <a:prstGeom prst="ellipse">
            <a:avLst/>
          </a:prstGeom>
          <a:solidFill>
            <a:srgbClr val="3B8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58184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Autodesk MCP + Kiro / Bedrock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88536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8EC"/>
                </a:solidFill>
                <a:latin typeface="Segoe UI"/>
              </a:rPr>
              <a:t>Ask questions and deploy to AWS in natural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0056"/>
            <a:ext cx="10908792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5367528"/>
            <a:ext cx="566928" cy="566928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00000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39512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QuickSight analytics + sustainability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98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8EC"/>
                </a:solidFill>
                <a:latin typeface="Segoe UI"/>
              </a:rPr>
              <a:t>See pipeline metrics and design carbon footprint.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A9FA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Segoe UI"/>
              </a:rPr>
              <a:t>AUTODESK PLATFORM SERVICES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680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Designs stored, translated, and streamed to any device — worldwide.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14800"/>
            <a:ext cx="2743200" cy="762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9900"/>
                </a:solidFill>
                <a:latin typeface="Segoe UI"/>
              </a:rPr>
              <a:t>Come build with 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468880" cy="2468880"/>
          </a:xfrm>
          <a:prstGeom prst="roundRect">
            <a:avLst/>
          </a:prstGeom>
          <a:solidFill>
            <a:srgbClr val="1A1B20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9900"/>
                </a:solidFill>
                <a:latin typeface="Segoe UI"/>
              </a:rPr>
              <a:t>▢ QR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FA8"/>
                </a:solidFill>
                <a:latin typeface="Segoe UI"/>
              </a:rPr>
              <a:t>scan for the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FA8"/>
                </a:solidFill>
                <a:latin typeface="Segoe UI"/>
              </a:rPr>
              <a:t>demo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44348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A9FA8"/>
                </a:solidFill>
                <a:latin typeface="Segoe UI"/>
              </a:rPr>
              <a:t>github.com/…/aps-on-aws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9FA8"/>
                </a:solidFill>
                <a:latin typeface="Segoe UI"/>
              </a:rPr>
              <a:t>Autodesk Platform Services on AWS  ·  Autodesk University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