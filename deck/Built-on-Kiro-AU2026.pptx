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8229600" cy="365760"/>
          </a:xfrm>
          <a:prstGeom prst="rect">
            <a:avLst/>
          </a:prstGeom>
          <a:noFill/>
        </p:spPr>
        <p:txBody>
          <a:bodyPr wrap="square" anchor="t" lIns="0" rIns="0" tIns="0" bIns="0">
            <a:spAutoFit/>
          </a:bodyPr>
          <a:lstStyle/>
          <a:p>
            <a:pPr algn="l"/>
            <a:r>
              <a:rPr sz="1500" b="1" i="0">
                <a:solidFill>
                  <a:srgbClr val="FF9900"/>
                </a:solidFill>
                <a:latin typeface="Segoe UI"/>
              </a:rPr>
              <a:t>AUTODESK UNIVERSITY 2026  ·  DEVELOPER PERSONA</a:t>
            </a:r>
          </a:p>
        </p:txBody>
      </p:sp>
      <p:sp>
        <p:nvSpPr>
          <p:cNvPr id="5" name="TextBox 4"/>
          <p:cNvSpPr txBox="1"/>
          <p:nvPr/>
        </p:nvSpPr>
        <p:spPr>
          <a:xfrm>
            <a:off x="822960" y="2286000"/>
            <a:ext cx="10789920" cy="1463040"/>
          </a:xfrm>
          <a:prstGeom prst="rect">
            <a:avLst/>
          </a:prstGeom>
          <a:noFill/>
        </p:spPr>
        <p:txBody>
          <a:bodyPr wrap="square" anchor="t" lIns="0" rIns="0" tIns="0" bIns="0">
            <a:spAutoFit/>
          </a:bodyPr>
          <a:lstStyle/>
          <a:p>
            <a:pPr algn="l"/>
            <a:r>
              <a:rPr sz="5400" b="1" i="0">
                <a:solidFill>
                  <a:srgbClr val="FFFFFF"/>
                </a:solidFill>
                <a:latin typeface="Segoe UI"/>
              </a:rPr>
              <a:t>Built on Kiro</a:t>
            </a:r>
          </a:p>
        </p:txBody>
      </p:sp>
      <p:sp>
        <p:nvSpPr>
          <p:cNvPr id="6" name="Rounded Rectangle 5"/>
          <p:cNvSpPr/>
          <p:nvPr/>
        </p:nvSpPr>
        <p:spPr>
          <a:xfrm>
            <a:off x="868680" y="3840480"/>
            <a:ext cx="274320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114800"/>
            <a:ext cx="10424160" cy="914400"/>
          </a:xfrm>
          <a:prstGeom prst="rect">
            <a:avLst/>
          </a:prstGeom>
          <a:noFill/>
        </p:spPr>
        <p:txBody>
          <a:bodyPr wrap="square" anchor="t" lIns="0" rIns="0" tIns="0" bIns="0">
            <a:spAutoFit/>
          </a:bodyPr>
          <a:lstStyle/>
          <a:p>
            <a:pPr algn="l"/>
            <a:r>
              <a:rPr sz="2600" b="0" i="0">
                <a:solidFill>
                  <a:srgbClr val="E6E8EC"/>
                </a:solidFill>
                <a:latin typeface="Segoe UI"/>
              </a:rPr>
              <a:t>From idea to a live Autodesk Platform Services app on AWS — with Kiro.</a:t>
            </a:r>
          </a:p>
        </p:txBody>
      </p:sp>
      <p:sp>
        <p:nvSpPr>
          <p:cNvPr id="8" name="TextBox 7"/>
          <p:cNvSpPr txBox="1"/>
          <p:nvPr/>
        </p:nvSpPr>
        <p:spPr>
          <a:xfrm>
            <a:off x="868680" y="6126480"/>
            <a:ext cx="10058400" cy="365760"/>
          </a:xfrm>
          <a:prstGeom prst="rect">
            <a:avLst/>
          </a:prstGeom>
          <a:noFill/>
        </p:spPr>
        <p:txBody>
          <a:bodyPr wrap="square" anchor="t" lIns="0" rIns="0" tIns="0" bIns="0">
            <a:spAutoFit/>
          </a:bodyPr>
          <a:lstStyle/>
          <a:p>
            <a:pPr algn="l"/>
            <a:r>
              <a:rPr sz="1400" b="0" i="0">
                <a:solidFill>
                  <a:srgbClr val="9A9FA8"/>
                </a:solidFill>
                <a:latin typeface="Segoe UI"/>
              </a:rPr>
              <a:t>Kiro — Amazon's agentic IDE, powered by Amazon Bedrock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365760"/>
          </a:xfrm>
          <a:prstGeom prst="rect">
            <a:avLst/>
          </a:prstGeom>
          <a:noFill/>
        </p:spPr>
        <p:txBody>
          <a:bodyPr wrap="square" anchor="t" lIns="0" rIns="0" tIns="0" bIns="0">
            <a:spAutoFit/>
          </a:bodyPr>
          <a:lstStyle/>
          <a:p>
            <a:pPr algn="l"/>
            <a:r>
              <a:rPr sz="1500" b="1" i="0">
                <a:solidFill>
                  <a:srgbClr val="FF9900"/>
                </a:solidFill>
                <a:latin typeface="Segoe UI"/>
              </a:rPr>
              <a:t>WHAT IS KIRO</a:t>
            </a:r>
          </a:p>
        </p:txBody>
      </p:sp>
      <p:sp>
        <p:nvSpPr>
          <p:cNvPr id="4" name="TextBox 3"/>
          <p:cNvSpPr txBox="1"/>
          <p:nvPr/>
        </p:nvSpPr>
        <p:spPr>
          <a:xfrm>
            <a:off x="640080" y="749808"/>
            <a:ext cx="10972800" cy="822960"/>
          </a:xfrm>
          <a:prstGeom prst="rect">
            <a:avLst/>
          </a:prstGeom>
          <a:noFill/>
        </p:spPr>
        <p:txBody>
          <a:bodyPr wrap="square" anchor="t" lIns="0" rIns="0" tIns="0" bIns="0">
            <a:spAutoFit/>
          </a:bodyPr>
          <a:lstStyle/>
          <a:p>
            <a:pPr algn="l"/>
            <a:r>
              <a:rPr sz="3200" b="1" i="0">
                <a:solidFill>
                  <a:srgbClr val="FFFFFF"/>
                </a:solidFill>
                <a:latin typeface="Segoe UI"/>
              </a:rPr>
              <a:t>Amazon's agentic IDE — describe it, plan it, build it, ship it</a:t>
            </a:r>
          </a:p>
        </p:txBody>
      </p:sp>
      <p:sp>
        <p:nvSpPr>
          <p:cNvPr id="5" name="Rounded Rectangle 4"/>
          <p:cNvSpPr/>
          <p:nvPr/>
        </p:nvSpPr>
        <p:spPr>
          <a:xfrm>
            <a:off x="640080" y="1170432"/>
            <a:ext cx="201168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286000"/>
            <a:ext cx="2521458" cy="1828800"/>
          </a:xfrm>
          <a:prstGeom prst="roundRect">
            <a:avLst/>
          </a:prstGeom>
          <a:solidFill>
            <a:srgbClr val="1A1B20"/>
          </a:solidFill>
          <a:ln w="1905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200" b="1" i="0">
                <a:solidFill>
                  <a:srgbClr val="FF9900"/>
                </a:solidFill>
                <a:latin typeface="Segoe UI"/>
              </a:rPr>
              <a:t>Describe</a:t>
            </a:r>
          </a:p>
          <a:p>
            <a:pPr algn="ctr">
              <a:lnSpc>
                <a:spcPct val="100000"/>
              </a:lnSpc>
              <a:spcAft>
                <a:spcPts val="400"/>
              </a:spcAft>
            </a:pPr>
            <a:r>
              <a:rPr sz="1400" b="0" i="0">
                <a:solidFill>
                  <a:srgbClr val="E6E8EC"/>
                </a:solidFill>
                <a:latin typeface="Segoe UI"/>
              </a:rPr>
              <a:t>Say what you want</a:t>
            </a:r>
          </a:p>
          <a:p>
            <a:pPr algn="ctr">
              <a:lnSpc>
                <a:spcPct val="100000"/>
              </a:lnSpc>
              <a:spcAft>
                <a:spcPts val="400"/>
              </a:spcAft>
            </a:pPr>
            <a:r>
              <a:rPr sz="1400" b="0" i="0">
                <a:solidFill>
                  <a:srgbClr val="9A9FA8"/>
                </a:solidFill>
                <a:latin typeface="Segoe UI"/>
              </a:rPr>
              <a:t>in plain English</a:t>
            </a:r>
          </a:p>
        </p:txBody>
      </p:sp>
      <p:sp>
        <p:nvSpPr>
          <p:cNvPr id="7" name="Right Arrow 6"/>
          <p:cNvSpPr/>
          <p:nvPr/>
        </p:nvSpPr>
        <p:spPr>
          <a:xfrm>
            <a:off x="3143250" y="3017520"/>
            <a:ext cx="274320" cy="365760"/>
          </a:xfrm>
          <a:prstGeom prst="rightArrow">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35858" y="2286000"/>
            <a:ext cx="2521458" cy="1828800"/>
          </a:xfrm>
          <a:prstGeom prst="roundRect">
            <a:avLst/>
          </a:prstGeom>
          <a:solidFill>
            <a:srgbClr val="1A1B2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200" b="1" i="0">
                <a:solidFill>
                  <a:srgbClr val="3B8EEA"/>
                </a:solidFill>
                <a:latin typeface="Segoe UI"/>
              </a:rPr>
              <a:t>Plan</a:t>
            </a:r>
          </a:p>
          <a:p>
            <a:pPr algn="ctr">
              <a:lnSpc>
                <a:spcPct val="100000"/>
              </a:lnSpc>
              <a:spcAft>
                <a:spcPts val="400"/>
              </a:spcAft>
            </a:pPr>
            <a:r>
              <a:rPr sz="1400" b="0" i="0">
                <a:solidFill>
                  <a:srgbClr val="E6E8EC"/>
                </a:solidFill>
                <a:latin typeface="Segoe UI"/>
              </a:rPr>
              <a:t>Kiro writes the spec</a:t>
            </a:r>
          </a:p>
          <a:p>
            <a:pPr algn="ctr">
              <a:lnSpc>
                <a:spcPct val="100000"/>
              </a:lnSpc>
              <a:spcAft>
                <a:spcPts val="400"/>
              </a:spcAft>
            </a:pPr>
            <a:r>
              <a:rPr sz="1400" b="0" i="0">
                <a:solidFill>
                  <a:srgbClr val="9A9FA8"/>
                </a:solidFill>
                <a:latin typeface="Segoe UI"/>
              </a:rPr>
              <a:t>before any code</a:t>
            </a:r>
          </a:p>
        </p:txBody>
      </p:sp>
      <p:sp>
        <p:nvSpPr>
          <p:cNvPr id="9" name="Right Arrow 8"/>
          <p:cNvSpPr/>
          <p:nvPr/>
        </p:nvSpPr>
        <p:spPr>
          <a:xfrm>
            <a:off x="5939028" y="3017520"/>
            <a:ext cx="274320" cy="365760"/>
          </a:xfrm>
          <a:prstGeom prst="rightArrow">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31636" y="2286000"/>
            <a:ext cx="2521458" cy="1828800"/>
          </a:xfrm>
          <a:prstGeom prst="roundRect">
            <a:avLst/>
          </a:prstGeom>
          <a:solidFill>
            <a:srgbClr val="1A1B20"/>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200" b="1" i="0">
                <a:solidFill>
                  <a:srgbClr val="8B5CF6"/>
                </a:solidFill>
                <a:latin typeface="Segoe UI"/>
              </a:rPr>
              <a:t>Build</a:t>
            </a:r>
          </a:p>
          <a:p>
            <a:pPr algn="ctr">
              <a:lnSpc>
                <a:spcPct val="100000"/>
              </a:lnSpc>
              <a:spcAft>
                <a:spcPts val="400"/>
              </a:spcAft>
            </a:pPr>
            <a:r>
              <a:rPr sz="1400" b="0" i="0">
                <a:solidFill>
                  <a:srgbClr val="E6E8EC"/>
                </a:solidFill>
                <a:latin typeface="Segoe UI"/>
              </a:rPr>
              <a:t>It implements,</a:t>
            </a:r>
          </a:p>
          <a:p>
            <a:pPr algn="ctr">
              <a:lnSpc>
                <a:spcPct val="100000"/>
              </a:lnSpc>
              <a:spcAft>
                <a:spcPts val="400"/>
              </a:spcAft>
            </a:pPr>
            <a:r>
              <a:rPr sz="1400" b="0" i="0">
                <a:solidFill>
                  <a:srgbClr val="9A9FA8"/>
                </a:solidFill>
                <a:latin typeface="Segoe UI"/>
              </a:rPr>
              <a:t>task by task</a:t>
            </a:r>
          </a:p>
        </p:txBody>
      </p:sp>
      <p:sp>
        <p:nvSpPr>
          <p:cNvPr id="11" name="Right Arrow 10"/>
          <p:cNvSpPr/>
          <p:nvPr/>
        </p:nvSpPr>
        <p:spPr>
          <a:xfrm>
            <a:off x="8734806" y="3017520"/>
            <a:ext cx="274320" cy="365760"/>
          </a:xfrm>
          <a:prstGeom prst="rightArrow">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027414" y="2286000"/>
            <a:ext cx="2521458" cy="1828800"/>
          </a:xfrm>
          <a:prstGeom prst="roundRect">
            <a:avLst/>
          </a:prstGeom>
          <a:solidFill>
            <a:srgbClr val="1A1B20"/>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200" b="1" i="0">
                <a:solidFill>
                  <a:srgbClr val="3FB950"/>
                </a:solidFill>
                <a:latin typeface="Segoe UI"/>
              </a:rPr>
              <a:t>Ship</a:t>
            </a:r>
          </a:p>
          <a:p>
            <a:pPr algn="ctr">
              <a:lnSpc>
                <a:spcPct val="100000"/>
              </a:lnSpc>
              <a:spcAft>
                <a:spcPts val="400"/>
              </a:spcAft>
            </a:pPr>
            <a:r>
              <a:rPr sz="1400" b="0" i="0">
                <a:solidFill>
                  <a:srgbClr val="E6E8EC"/>
                </a:solidFill>
                <a:latin typeface="Segoe UI"/>
              </a:rPr>
              <a:t>Deploy to AWS</a:t>
            </a:r>
          </a:p>
          <a:p>
            <a:pPr algn="ctr">
              <a:lnSpc>
                <a:spcPct val="100000"/>
              </a:lnSpc>
              <a:spcAft>
                <a:spcPts val="400"/>
              </a:spcAft>
            </a:pPr>
            <a:r>
              <a:rPr sz="1400" b="0" i="0">
                <a:solidFill>
                  <a:srgbClr val="9A9FA8"/>
                </a:solidFill>
                <a:latin typeface="Segoe UI"/>
              </a:rPr>
              <a:t>from the IDE</a:t>
            </a:r>
          </a:p>
        </p:txBody>
      </p:sp>
      <p:sp>
        <p:nvSpPr>
          <p:cNvPr id="13" name="Rounded Rectangle 12"/>
          <p:cNvSpPr/>
          <p:nvPr/>
        </p:nvSpPr>
        <p:spPr>
          <a:xfrm>
            <a:off x="640080" y="4617720"/>
            <a:ext cx="10908792" cy="1280160"/>
          </a:xfrm>
          <a:prstGeom prst="roundRect">
            <a:avLst/>
          </a:prstGeom>
          <a:solidFill>
            <a:srgbClr val="2426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10000"/>
              </a:lnSpc>
              <a:spcAft>
                <a:spcPts val="800"/>
              </a:spcAft>
            </a:pPr>
            <a:r>
              <a:rPr sz="2000" b="1" i="0">
                <a:solidFill>
                  <a:srgbClr val="FFFFFF"/>
                </a:solidFill>
                <a:latin typeface="Segoe UI"/>
              </a:rPr>
              <a:t>One agentic IDE takes you from a sentence to a running app on AWS —</a:t>
            </a:r>
          </a:p>
          <a:p>
            <a:pPr algn="ctr">
              <a:lnSpc>
                <a:spcPct val="110000"/>
              </a:lnSpc>
              <a:spcAft>
                <a:spcPts val="800"/>
              </a:spcAft>
            </a:pPr>
            <a:r>
              <a:rPr sz="1800" b="0" i="0">
                <a:solidFill>
                  <a:srgbClr val="FF9900"/>
                </a:solidFill>
                <a:latin typeface="Segoe UI"/>
              </a:rPr>
              <a:t>powered by Amazon Bedrock, so your code and context stay in your AWS boundary.</a:t>
            </a:r>
          </a:p>
        </p:txBody>
      </p:sp>
      <p:sp>
        <p:nvSpPr>
          <p:cNvPr id="14" name="TextBox 13"/>
          <p:cNvSpPr txBox="1"/>
          <p:nvPr/>
        </p:nvSpPr>
        <p:spPr>
          <a:xfrm>
            <a:off x="640080" y="6419088"/>
            <a:ext cx="9144000" cy="320040"/>
          </a:xfrm>
          <a:prstGeom prst="rect">
            <a:avLst/>
          </a:prstGeom>
          <a:noFill/>
        </p:spPr>
        <p:txBody>
          <a:bodyPr wrap="square" anchor="t" lIns="0" rIns="0" tIns="0" bIns="0">
            <a:spAutoFit/>
          </a:bodyPr>
          <a:lstStyle/>
          <a:p>
            <a:pPr algn="l"/>
            <a:r>
              <a:rPr sz="1000" b="0" i="0">
                <a:solidFill>
                  <a:srgbClr val="9A9FA8"/>
                </a:solidFill>
                <a:latin typeface="Segoe UI"/>
              </a:rPr>
              <a:t>Built on Kiro  ·  APS on AWS  ·  Autodesk University 2026</a:t>
            </a:r>
          </a:p>
        </p:txBody>
      </p:sp>
      <p:sp>
        <p:nvSpPr>
          <p:cNvPr id="15" name="TextBox 14"/>
          <p:cNvSpPr txBox="1"/>
          <p:nvPr/>
        </p:nvSpPr>
        <p:spPr>
          <a:xfrm>
            <a:off x="11338560" y="6419088"/>
            <a:ext cx="640080" cy="320040"/>
          </a:xfrm>
          <a:prstGeom prst="rect">
            <a:avLst/>
          </a:prstGeom>
          <a:noFill/>
        </p:spPr>
        <p:txBody>
          <a:bodyPr wrap="square" anchor="t" lIns="0" rIns="0" tIns="0" bIns="0">
            <a:spAutoFit/>
          </a:bodyPr>
          <a:lstStyle/>
          <a:p>
            <a:pPr algn="r"/>
            <a:r>
              <a:rPr sz="1100" b="0" i="0">
                <a:solidFill>
                  <a:srgbClr val="9A9FA8"/>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365760"/>
          </a:xfrm>
          <a:prstGeom prst="rect">
            <a:avLst/>
          </a:prstGeom>
          <a:noFill/>
        </p:spPr>
        <p:txBody>
          <a:bodyPr wrap="square" anchor="t" lIns="0" rIns="0" tIns="0" bIns="0">
            <a:spAutoFit/>
          </a:bodyPr>
          <a:lstStyle/>
          <a:p>
            <a:pPr algn="l"/>
            <a:r>
              <a:rPr sz="1500" b="1" i="0">
                <a:solidFill>
                  <a:srgbClr val="FF9900"/>
                </a:solidFill>
                <a:latin typeface="Segoe UI"/>
              </a:rPr>
              <a:t>SIGNATURE CAPABILITY</a:t>
            </a:r>
          </a:p>
        </p:txBody>
      </p:sp>
      <p:sp>
        <p:nvSpPr>
          <p:cNvPr id="4" name="TextBox 3"/>
          <p:cNvSpPr txBox="1"/>
          <p:nvPr/>
        </p:nvSpPr>
        <p:spPr>
          <a:xfrm>
            <a:off x="640080" y="749808"/>
            <a:ext cx="10972800" cy="822960"/>
          </a:xfrm>
          <a:prstGeom prst="rect">
            <a:avLst/>
          </a:prstGeom>
          <a:noFill/>
        </p:spPr>
        <p:txBody>
          <a:bodyPr wrap="square" anchor="t" lIns="0" rIns="0" tIns="0" bIns="0">
            <a:spAutoFit/>
          </a:bodyPr>
          <a:lstStyle/>
          <a:p>
            <a:pPr algn="l"/>
            <a:r>
              <a:rPr sz="3200" b="1" i="0">
                <a:solidFill>
                  <a:srgbClr val="FFFFFF"/>
                </a:solidFill>
                <a:latin typeface="Segoe UI"/>
              </a:rPr>
              <a:t>Spec-driven development — the plan is visible before code</a:t>
            </a:r>
          </a:p>
        </p:txBody>
      </p:sp>
      <p:sp>
        <p:nvSpPr>
          <p:cNvPr id="5" name="Rounded Rectangle 4"/>
          <p:cNvSpPr/>
          <p:nvPr/>
        </p:nvSpPr>
        <p:spPr>
          <a:xfrm>
            <a:off x="640080" y="1170432"/>
            <a:ext cx="201168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286000"/>
            <a:ext cx="3246120" cy="1920240"/>
          </a:xfrm>
          <a:prstGeom prst="roundRect">
            <a:avLst/>
          </a:prstGeom>
          <a:solidFill>
            <a:srgbClr val="1A1B20"/>
          </a:solidFill>
          <a:ln w="1905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000" b="1" i="0">
                <a:solidFill>
                  <a:srgbClr val="FF9900"/>
                </a:solidFill>
                <a:latin typeface="Segoe UI"/>
              </a:rPr>
              <a:t>requirements.md</a:t>
            </a:r>
          </a:p>
          <a:p>
            <a:pPr algn="ctr">
              <a:lnSpc>
                <a:spcPct val="100000"/>
              </a:lnSpc>
              <a:spcAft>
                <a:spcPts val="400"/>
              </a:spcAft>
            </a:pPr>
            <a:r>
              <a:rPr sz="1400" b="0" i="0">
                <a:solidFill>
                  <a:srgbClr val="E6E8EC"/>
                </a:solidFill>
                <a:latin typeface="Segoe UI"/>
              </a:rPr>
              <a:t>Structured</a:t>
            </a:r>
          </a:p>
          <a:p>
            <a:pPr algn="ctr">
              <a:lnSpc>
                <a:spcPct val="100000"/>
              </a:lnSpc>
              <a:spcAft>
                <a:spcPts val="400"/>
              </a:spcAft>
            </a:pPr>
            <a:r>
              <a:rPr sz="1400" b="0" i="0">
                <a:solidFill>
                  <a:srgbClr val="9A9FA8"/>
                </a:solidFill>
                <a:latin typeface="Segoe UI"/>
              </a:rPr>
              <a:t>requirements (EARS)</a:t>
            </a:r>
          </a:p>
        </p:txBody>
      </p:sp>
      <p:sp>
        <p:nvSpPr>
          <p:cNvPr id="7" name="Right Arrow 6"/>
          <p:cNvSpPr/>
          <p:nvPr/>
        </p:nvSpPr>
        <p:spPr>
          <a:xfrm>
            <a:off x="3941064" y="3063240"/>
            <a:ext cx="384048" cy="365760"/>
          </a:xfrm>
          <a:prstGeom prst="rightArrow">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2286000"/>
            <a:ext cx="3246120" cy="1920240"/>
          </a:xfrm>
          <a:prstGeom prst="roundRect">
            <a:avLst/>
          </a:prstGeom>
          <a:solidFill>
            <a:srgbClr val="1A1B2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000" b="1" i="0">
                <a:solidFill>
                  <a:srgbClr val="3B8EEA"/>
                </a:solidFill>
                <a:latin typeface="Segoe UI"/>
              </a:rPr>
              <a:t>design.md</a:t>
            </a:r>
          </a:p>
          <a:p>
            <a:pPr algn="ctr">
              <a:lnSpc>
                <a:spcPct val="100000"/>
              </a:lnSpc>
              <a:spcAft>
                <a:spcPts val="400"/>
              </a:spcAft>
            </a:pPr>
            <a:r>
              <a:rPr sz="1400" b="0" i="0">
                <a:solidFill>
                  <a:srgbClr val="E6E8EC"/>
                </a:solidFill>
                <a:latin typeface="Segoe UI"/>
              </a:rPr>
              <a:t>The technical</a:t>
            </a:r>
          </a:p>
          <a:p>
            <a:pPr algn="ctr">
              <a:lnSpc>
                <a:spcPct val="100000"/>
              </a:lnSpc>
              <a:spcAft>
                <a:spcPts val="400"/>
              </a:spcAft>
            </a:pPr>
            <a:r>
              <a:rPr sz="1400" b="0" i="0">
                <a:solidFill>
                  <a:srgbClr val="9A9FA8"/>
                </a:solidFill>
                <a:latin typeface="Segoe UI"/>
              </a:rPr>
              <a:t>approach</a:t>
            </a:r>
          </a:p>
        </p:txBody>
      </p:sp>
      <p:sp>
        <p:nvSpPr>
          <p:cNvPr id="9" name="Right Arrow 8"/>
          <p:cNvSpPr/>
          <p:nvPr/>
        </p:nvSpPr>
        <p:spPr>
          <a:xfrm>
            <a:off x="7690104" y="3063240"/>
            <a:ext cx="384048" cy="365760"/>
          </a:xfrm>
          <a:prstGeom prst="rightArrow">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60" y="2286000"/>
            <a:ext cx="3246120" cy="1920240"/>
          </a:xfrm>
          <a:prstGeom prst="roundRect">
            <a:avLst/>
          </a:prstGeom>
          <a:solidFill>
            <a:srgbClr val="1A1B20"/>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000" b="1" i="0">
                <a:solidFill>
                  <a:srgbClr val="3FB950"/>
                </a:solidFill>
                <a:latin typeface="Segoe UI"/>
              </a:rPr>
              <a:t>tasks.md</a:t>
            </a:r>
          </a:p>
          <a:p>
            <a:pPr algn="ctr">
              <a:lnSpc>
                <a:spcPct val="100000"/>
              </a:lnSpc>
              <a:spcAft>
                <a:spcPts val="400"/>
              </a:spcAft>
            </a:pPr>
            <a:r>
              <a:rPr sz="1400" b="0" i="0">
                <a:solidFill>
                  <a:srgbClr val="E6E8EC"/>
                </a:solidFill>
                <a:latin typeface="Segoe UI"/>
              </a:rPr>
              <a:t>A checklist Kiro</a:t>
            </a:r>
          </a:p>
          <a:p>
            <a:pPr algn="ctr">
              <a:lnSpc>
                <a:spcPct val="100000"/>
              </a:lnSpc>
              <a:spcAft>
                <a:spcPts val="400"/>
              </a:spcAft>
            </a:pPr>
            <a:r>
              <a:rPr sz="1400" b="0" i="0">
                <a:solidFill>
                  <a:srgbClr val="9A9FA8"/>
                </a:solidFill>
                <a:latin typeface="Segoe UI"/>
              </a:rPr>
              <a:t>executes one by one</a:t>
            </a:r>
          </a:p>
        </p:txBody>
      </p:sp>
      <p:sp>
        <p:nvSpPr>
          <p:cNvPr id="11" name="Rounded Rectangle 10"/>
          <p:cNvSpPr/>
          <p:nvPr/>
        </p:nvSpPr>
        <p:spPr>
          <a:xfrm>
            <a:off x="640080" y="4617720"/>
            <a:ext cx="10908792" cy="1280160"/>
          </a:xfrm>
          <a:prstGeom prst="roundRect">
            <a:avLst/>
          </a:prstGeom>
          <a:solidFill>
            <a:srgbClr val="2426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10000"/>
              </a:lnSpc>
              <a:spcAft>
                <a:spcPts val="800"/>
              </a:spcAft>
            </a:pPr>
            <a:r>
              <a:rPr sz="2100" b="1" i="0">
                <a:solidFill>
                  <a:srgbClr val="FFFFFF"/>
                </a:solidFill>
                <a:latin typeface="Segoe UI"/>
              </a:rPr>
              <a:t>You approve the plan, THEN Kiro builds.</a:t>
            </a:r>
          </a:p>
          <a:p>
            <a:pPr algn="ctr">
              <a:lnSpc>
                <a:spcPct val="110000"/>
              </a:lnSpc>
              <a:spcAft>
                <a:spcPts val="800"/>
              </a:spcAft>
            </a:pPr>
            <a:r>
              <a:rPr sz="1600" b="0" i="0">
                <a:solidFill>
                  <a:srgbClr val="E6E8EC"/>
                </a:solidFill>
                <a:latin typeface="Segoe UI"/>
              </a:rPr>
              <a:t>Planning and guardrails are visible and reviewable — no black box, no surprises.</a:t>
            </a:r>
          </a:p>
        </p:txBody>
      </p:sp>
      <p:sp>
        <p:nvSpPr>
          <p:cNvPr id="12" name="TextBox 11"/>
          <p:cNvSpPr txBox="1"/>
          <p:nvPr/>
        </p:nvSpPr>
        <p:spPr>
          <a:xfrm>
            <a:off x="640080" y="6419088"/>
            <a:ext cx="9144000" cy="320040"/>
          </a:xfrm>
          <a:prstGeom prst="rect">
            <a:avLst/>
          </a:prstGeom>
          <a:noFill/>
        </p:spPr>
        <p:txBody>
          <a:bodyPr wrap="square" anchor="t" lIns="0" rIns="0" tIns="0" bIns="0">
            <a:spAutoFit/>
          </a:bodyPr>
          <a:lstStyle/>
          <a:p>
            <a:pPr algn="l"/>
            <a:r>
              <a:rPr sz="1000" b="0" i="0">
                <a:solidFill>
                  <a:srgbClr val="9A9FA8"/>
                </a:solidFill>
                <a:latin typeface="Segoe UI"/>
              </a:rPr>
              <a:t>Built on Kiro  ·  APS on AWS  ·  Autodesk University 2026</a:t>
            </a:r>
          </a:p>
        </p:txBody>
      </p:sp>
      <p:sp>
        <p:nvSpPr>
          <p:cNvPr id="13" name="TextBox 12"/>
          <p:cNvSpPr txBox="1"/>
          <p:nvPr/>
        </p:nvSpPr>
        <p:spPr>
          <a:xfrm>
            <a:off x="11338560" y="6419088"/>
            <a:ext cx="640080" cy="320040"/>
          </a:xfrm>
          <a:prstGeom prst="rect">
            <a:avLst/>
          </a:prstGeom>
          <a:noFill/>
        </p:spPr>
        <p:txBody>
          <a:bodyPr wrap="square" anchor="t" lIns="0" rIns="0" tIns="0" bIns="0">
            <a:spAutoFit/>
          </a:bodyPr>
          <a:lstStyle/>
          <a:p>
            <a:pPr algn="r"/>
            <a:r>
              <a:rPr sz="1100" b="0" i="0">
                <a:solidFill>
                  <a:srgbClr val="9A9FA8"/>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365760"/>
          </a:xfrm>
          <a:prstGeom prst="rect">
            <a:avLst/>
          </a:prstGeom>
          <a:noFill/>
        </p:spPr>
        <p:txBody>
          <a:bodyPr wrap="square" anchor="t" lIns="0" rIns="0" tIns="0" bIns="0">
            <a:spAutoFit/>
          </a:bodyPr>
          <a:lstStyle/>
          <a:p>
            <a:pPr algn="l"/>
            <a:r>
              <a:rPr sz="1500" b="1" i="0">
                <a:solidFill>
                  <a:srgbClr val="FF9900"/>
                </a:solidFill>
                <a:latin typeface="Segoe UI"/>
              </a:rPr>
              <a:t>AUTOMATION &amp; CONSISTENCY</a:t>
            </a:r>
          </a:p>
        </p:txBody>
      </p:sp>
      <p:sp>
        <p:nvSpPr>
          <p:cNvPr id="4" name="TextBox 3"/>
          <p:cNvSpPr txBox="1"/>
          <p:nvPr/>
        </p:nvSpPr>
        <p:spPr>
          <a:xfrm>
            <a:off x="640080" y="749808"/>
            <a:ext cx="10972800" cy="822960"/>
          </a:xfrm>
          <a:prstGeom prst="rect">
            <a:avLst/>
          </a:prstGeom>
          <a:noFill/>
        </p:spPr>
        <p:txBody>
          <a:bodyPr wrap="square" anchor="t" lIns="0" rIns="0" tIns="0" bIns="0">
            <a:spAutoFit/>
          </a:bodyPr>
          <a:lstStyle/>
          <a:p>
            <a:pPr algn="l"/>
            <a:r>
              <a:rPr sz="3200" b="1" i="0">
                <a:solidFill>
                  <a:srgbClr val="FFFFFF"/>
                </a:solidFill>
                <a:latin typeface="Segoe UI"/>
              </a:rPr>
              <a:t>Agent Hooks and Steering keep work automatic and on-standard</a:t>
            </a:r>
          </a:p>
        </p:txBody>
      </p:sp>
      <p:sp>
        <p:nvSpPr>
          <p:cNvPr id="5" name="Rounded Rectangle 4"/>
          <p:cNvSpPr/>
          <p:nvPr/>
        </p:nvSpPr>
        <p:spPr>
          <a:xfrm>
            <a:off x="640080" y="1170432"/>
            <a:ext cx="201168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5349240" cy="3840480"/>
          </a:xfrm>
          <a:prstGeom prst="roundRect">
            <a:avLst/>
          </a:prstGeom>
          <a:solidFill>
            <a:srgbClr val="1A1B20"/>
          </a:solidFill>
          <a:ln w="1905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86000"/>
            <a:ext cx="4754880" cy="457200"/>
          </a:xfrm>
          <a:prstGeom prst="rect">
            <a:avLst/>
          </a:prstGeom>
          <a:noFill/>
        </p:spPr>
        <p:txBody>
          <a:bodyPr wrap="square" anchor="t" lIns="0" rIns="0" tIns="0" bIns="0">
            <a:spAutoFit/>
          </a:bodyPr>
          <a:lstStyle/>
          <a:p>
            <a:pPr algn="l"/>
            <a:r>
              <a:rPr sz="2400" b="1" i="0">
                <a:solidFill>
                  <a:srgbClr val="FF9900"/>
                </a:solidFill>
                <a:latin typeface="Segoe UI"/>
              </a:rPr>
              <a:t>Agent Hooks</a:t>
            </a:r>
          </a:p>
        </p:txBody>
      </p:sp>
      <p:sp>
        <p:nvSpPr>
          <p:cNvPr id="8" name="TextBox 7"/>
          <p:cNvSpPr txBox="1"/>
          <p:nvPr/>
        </p:nvSpPr>
        <p:spPr>
          <a:xfrm>
            <a:off x="960120" y="2971800"/>
            <a:ext cx="4754880" cy="2743200"/>
          </a:xfrm>
          <a:prstGeom prst="rect">
            <a:avLst/>
          </a:prstGeom>
          <a:noFill/>
        </p:spPr>
        <p:txBody>
          <a:bodyPr wrap="square" lIns="0" rIns="0" tIns="0" bIns="0">
            <a:spAutoFit/>
          </a:bodyPr>
          <a:lstStyle/>
          <a:p>
            <a:pPr>
              <a:lnSpc>
                <a:spcPct val="108000"/>
              </a:lnSpc>
              <a:spcAft>
                <a:spcPts val="1200"/>
              </a:spcAft>
            </a:pPr>
            <a:r>
              <a:rPr sz="1700" b="1">
                <a:solidFill>
                  <a:srgbClr val="FF9900"/>
                </a:solidFill>
                <a:latin typeface="Segoe UI"/>
              </a:rPr>
              <a:t>▸  </a:t>
            </a:r>
            <a:r>
              <a:rPr sz="1700">
                <a:solidFill>
                  <a:srgbClr val="E6E8EC"/>
                </a:solidFill>
                <a:latin typeface="Segoe UI"/>
              </a:rPr>
              <a:t>Event-driven automation inside the IDE.</a:t>
            </a:r>
          </a:p>
          <a:p>
            <a:pPr>
              <a:lnSpc>
                <a:spcPct val="108000"/>
              </a:lnSpc>
              <a:spcAft>
                <a:spcPts val="1200"/>
              </a:spcAft>
            </a:pPr>
            <a:r>
              <a:rPr sz="1700" b="1">
                <a:solidFill>
                  <a:srgbClr val="FF9900"/>
                </a:solidFill>
                <a:latin typeface="Segoe UI"/>
              </a:rPr>
              <a:t>▸  </a:t>
            </a:r>
            <a:r>
              <a:rPr sz="1700">
                <a:solidFill>
                  <a:srgbClr val="E6E8EC"/>
                </a:solidFill>
                <a:latin typeface="Segoe UI"/>
              </a:rPr>
              <a:t>"On file save, run the tests."</a:t>
            </a:r>
          </a:p>
          <a:p>
            <a:pPr>
              <a:lnSpc>
                <a:spcPct val="108000"/>
              </a:lnSpc>
              <a:spcAft>
                <a:spcPts val="1200"/>
              </a:spcAft>
            </a:pPr>
            <a:r>
              <a:rPr sz="1700" b="1">
                <a:solidFill>
                  <a:srgbClr val="FF9900"/>
                </a:solidFill>
                <a:latin typeface="Segoe UI"/>
              </a:rPr>
              <a:t>▸  </a:t>
            </a:r>
            <a:r>
              <a:rPr sz="1700">
                <a:solidFill>
                  <a:srgbClr val="E6E8EC"/>
                </a:solidFill>
                <a:latin typeface="Segoe UI"/>
              </a:rPr>
              <a:t>"On API change, update the docs."</a:t>
            </a:r>
          </a:p>
          <a:p>
            <a:pPr>
              <a:lnSpc>
                <a:spcPct val="108000"/>
              </a:lnSpc>
              <a:spcAft>
                <a:spcPts val="1200"/>
              </a:spcAft>
            </a:pPr>
            <a:r>
              <a:rPr sz="1700" b="1">
                <a:solidFill>
                  <a:srgbClr val="FF9900"/>
                </a:solidFill>
                <a:latin typeface="Segoe UI"/>
              </a:rPr>
              <a:t>▸  </a:t>
            </a:r>
            <a:r>
              <a:rPr sz="1700">
                <a:solidFill>
                  <a:srgbClr val="E6E8EC"/>
                </a:solidFill>
                <a:latin typeface="Segoe UI"/>
              </a:rPr>
              <a:t>Repetitive steps happen for you.</a:t>
            </a:r>
          </a:p>
        </p:txBody>
      </p:sp>
      <p:sp>
        <p:nvSpPr>
          <p:cNvPr id="9" name="Rounded Rectangle 8"/>
          <p:cNvSpPr/>
          <p:nvPr/>
        </p:nvSpPr>
        <p:spPr>
          <a:xfrm>
            <a:off x="6199632" y="2011680"/>
            <a:ext cx="5349240" cy="3840480"/>
          </a:xfrm>
          <a:prstGeom prst="roundRect">
            <a:avLst/>
          </a:prstGeom>
          <a:solidFill>
            <a:srgbClr val="1A1B20"/>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286000"/>
            <a:ext cx="4754880" cy="457200"/>
          </a:xfrm>
          <a:prstGeom prst="rect">
            <a:avLst/>
          </a:prstGeom>
          <a:noFill/>
        </p:spPr>
        <p:txBody>
          <a:bodyPr wrap="square" anchor="t" lIns="0" rIns="0" tIns="0" bIns="0">
            <a:spAutoFit/>
          </a:bodyPr>
          <a:lstStyle/>
          <a:p>
            <a:pPr algn="l"/>
            <a:r>
              <a:rPr sz="2400" b="1" i="0">
                <a:solidFill>
                  <a:srgbClr val="8B5CF6"/>
                </a:solidFill>
                <a:latin typeface="Segoe UI"/>
              </a:rPr>
              <a:t>Steering Files</a:t>
            </a:r>
          </a:p>
        </p:txBody>
      </p:sp>
      <p:sp>
        <p:nvSpPr>
          <p:cNvPr id="11" name="TextBox 10"/>
          <p:cNvSpPr txBox="1"/>
          <p:nvPr/>
        </p:nvSpPr>
        <p:spPr>
          <a:xfrm>
            <a:off x="6519672" y="2971800"/>
            <a:ext cx="4754880" cy="2743200"/>
          </a:xfrm>
          <a:prstGeom prst="rect">
            <a:avLst/>
          </a:prstGeom>
          <a:noFill/>
        </p:spPr>
        <p:txBody>
          <a:bodyPr wrap="square" lIns="0" rIns="0" tIns="0" bIns="0">
            <a:spAutoFit/>
          </a:bodyPr>
          <a:lstStyle/>
          <a:p>
            <a:pPr>
              <a:lnSpc>
                <a:spcPct val="108000"/>
              </a:lnSpc>
              <a:spcAft>
                <a:spcPts val="1200"/>
              </a:spcAft>
            </a:pPr>
            <a:r>
              <a:rPr sz="1700" b="1">
                <a:solidFill>
                  <a:srgbClr val="8B5CF6"/>
                </a:solidFill>
                <a:latin typeface="Segoe UI"/>
              </a:rPr>
              <a:t>▸  </a:t>
            </a:r>
            <a:r>
              <a:rPr sz="1700">
                <a:solidFill>
                  <a:srgbClr val="E6E8EC"/>
                </a:solidFill>
                <a:latin typeface="Segoe UI"/>
              </a:rPr>
              <a:t>Persistent project rules the agent always follows.</a:t>
            </a:r>
          </a:p>
          <a:p>
            <a:pPr>
              <a:lnSpc>
                <a:spcPct val="108000"/>
              </a:lnSpc>
              <a:spcAft>
                <a:spcPts val="1200"/>
              </a:spcAft>
            </a:pPr>
            <a:r>
              <a:rPr sz="1700" b="1">
                <a:solidFill>
                  <a:srgbClr val="8B5CF6"/>
                </a:solidFill>
                <a:latin typeface="Segoe UI"/>
              </a:rPr>
              <a:t>▸  </a:t>
            </a:r>
            <a:r>
              <a:rPr sz="1700">
                <a:solidFill>
                  <a:srgbClr val="E6E8EC"/>
                </a:solidFill>
                <a:latin typeface="Segoe UI"/>
              </a:rPr>
              <a:t>Coding standards and conventions.</a:t>
            </a:r>
          </a:p>
          <a:p>
            <a:pPr>
              <a:lnSpc>
                <a:spcPct val="108000"/>
              </a:lnSpc>
              <a:spcAft>
                <a:spcPts val="1200"/>
              </a:spcAft>
            </a:pPr>
            <a:r>
              <a:rPr sz="1700" b="1">
                <a:solidFill>
                  <a:srgbClr val="8B5CF6"/>
                </a:solidFill>
                <a:latin typeface="Segoe UI"/>
              </a:rPr>
              <a:t>▸  </a:t>
            </a:r>
            <a:r>
              <a:rPr sz="1700">
                <a:solidFill>
                  <a:srgbClr val="E6E8EC"/>
                </a:solidFill>
                <a:latin typeface="Segoe UI"/>
              </a:rPr>
              <a:t>Architecture constraints and guardrails.</a:t>
            </a:r>
          </a:p>
          <a:p>
            <a:pPr>
              <a:lnSpc>
                <a:spcPct val="108000"/>
              </a:lnSpc>
              <a:spcAft>
                <a:spcPts val="1200"/>
              </a:spcAft>
            </a:pPr>
            <a:r>
              <a:rPr sz="1700" b="1">
                <a:solidFill>
                  <a:srgbClr val="8B5CF6"/>
                </a:solidFill>
                <a:latin typeface="Segoe UI"/>
              </a:rPr>
              <a:t>▸  </a:t>
            </a:r>
            <a:r>
              <a:rPr sz="1700">
                <a:solidFill>
                  <a:srgbClr val="E6E8EC"/>
                </a:solidFill>
                <a:latin typeface="Segoe UI"/>
              </a:rPr>
              <a:t>Every generation stays on-standard.</a:t>
            </a:r>
          </a:p>
        </p:txBody>
      </p:sp>
      <p:sp>
        <p:nvSpPr>
          <p:cNvPr id="12" name="TextBox 11"/>
          <p:cNvSpPr txBox="1"/>
          <p:nvPr/>
        </p:nvSpPr>
        <p:spPr>
          <a:xfrm>
            <a:off x="640080" y="6419088"/>
            <a:ext cx="9144000" cy="320040"/>
          </a:xfrm>
          <a:prstGeom prst="rect">
            <a:avLst/>
          </a:prstGeom>
          <a:noFill/>
        </p:spPr>
        <p:txBody>
          <a:bodyPr wrap="square" anchor="t" lIns="0" rIns="0" tIns="0" bIns="0">
            <a:spAutoFit/>
          </a:bodyPr>
          <a:lstStyle/>
          <a:p>
            <a:pPr algn="l"/>
            <a:r>
              <a:rPr sz="1000" b="0" i="0">
                <a:solidFill>
                  <a:srgbClr val="9A9FA8"/>
                </a:solidFill>
                <a:latin typeface="Segoe UI"/>
              </a:rPr>
              <a:t>Built on Kiro  ·  APS on AWS  ·  Autodesk University 2026</a:t>
            </a:r>
          </a:p>
        </p:txBody>
      </p:sp>
      <p:sp>
        <p:nvSpPr>
          <p:cNvPr id="13" name="TextBox 12"/>
          <p:cNvSpPr txBox="1"/>
          <p:nvPr/>
        </p:nvSpPr>
        <p:spPr>
          <a:xfrm>
            <a:off x="11338560" y="6419088"/>
            <a:ext cx="640080" cy="320040"/>
          </a:xfrm>
          <a:prstGeom prst="rect">
            <a:avLst/>
          </a:prstGeom>
          <a:noFill/>
        </p:spPr>
        <p:txBody>
          <a:bodyPr wrap="square" anchor="t" lIns="0" rIns="0" tIns="0" bIns="0">
            <a:spAutoFit/>
          </a:bodyPr>
          <a:lstStyle/>
          <a:p>
            <a:pPr algn="r"/>
            <a:r>
              <a:rPr sz="1100" b="0" i="0">
                <a:solidFill>
                  <a:srgbClr val="9A9FA8"/>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365760"/>
          </a:xfrm>
          <a:prstGeom prst="rect">
            <a:avLst/>
          </a:prstGeom>
          <a:noFill/>
        </p:spPr>
        <p:txBody>
          <a:bodyPr wrap="square" anchor="t" lIns="0" rIns="0" tIns="0" bIns="0">
            <a:spAutoFit/>
          </a:bodyPr>
          <a:lstStyle/>
          <a:p>
            <a:pPr algn="l"/>
            <a:r>
              <a:rPr sz="1500" b="1" i="0">
                <a:solidFill>
                  <a:srgbClr val="FF9900"/>
                </a:solidFill>
                <a:latin typeface="Segoe UI"/>
              </a:rPr>
              <a:t>CONNECT YOUR TOOLS</a:t>
            </a:r>
          </a:p>
        </p:txBody>
      </p:sp>
      <p:sp>
        <p:nvSpPr>
          <p:cNvPr id="4" name="TextBox 3"/>
          <p:cNvSpPr txBox="1"/>
          <p:nvPr/>
        </p:nvSpPr>
        <p:spPr>
          <a:xfrm>
            <a:off x="640080" y="749808"/>
            <a:ext cx="10972800" cy="822960"/>
          </a:xfrm>
          <a:prstGeom prst="rect">
            <a:avLst/>
          </a:prstGeom>
          <a:noFill/>
        </p:spPr>
        <p:txBody>
          <a:bodyPr wrap="square" anchor="t" lIns="0" rIns="0" tIns="0" bIns="0">
            <a:spAutoFit/>
          </a:bodyPr>
          <a:lstStyle/>
          <a:p>
            <a:pPr algn="l"/>
            <a:r>
              <a:rPr sz="3200" b="1" i="0">
                <a:solidFill>
                  <a:srgbClr val="FFFFFF"/>
                </a:solidFill>
                <a:latin typeface="Segoe UI"/>
              </a:rPr>
              <a:t>MCP support — connect Autodesk's own data to Kiro</a:t>
            </a:r>
          </a:p>
        </p:txBody>
      </p:sp>
      <p:sp>
        <p:nvSpPr>
          <p:cNvPr id="5" name="Rounded Rectangle 4"/>
          <p:cNvSpPr/>
          <p:nvPr/>
        </p:nvSpPr>
        <p:spPr>
          <a:xfrm>
            <a:off x="640080" y="1170432"/>
            <a:ext cx="201168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240280"/>
            <a:ext cx="3246120" cy="1463040"/>
          </a:xfrm>
          <a:prstGeom prst="roundRect">
            <a:avLst/>
          </a:prstGeom>
          <a:solidFill>
            <a:srgbClr val="1A1B20"/>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000" b="1" i="0">
                <a:solidFill>
                  <a:srgbClr val="3FB950"/>
                </a:solidFill>
                <a:latin typeface="Segoe UI"/>
              </a:rPr>
              <a:t>Autodesk</a:t>
            </a:r>
          </a:p>
          <a:p>
            <a:pPr algn="ctr">
              <a:lnSpc>
                <a:spcPct val="100000"/>
              </a:lnSpc>
              <a:spcAft>
                <a:spcPts val="400"/>
              </a:spcAft>
            </a:pPr>
            <a:r>
              <a:rPr sz="1400" b="0" i="0">
                <a:solidFill>
                  <a:srgbClr val="9A9FA8"/>
                </a:solidFill>
                <a:latin typeface="Segoe UI"/>
              </a:rPr>
              <a:t>Product Help MCP</a:t>
            </a:r>
          </a:p>
        </p:txBody>
      </p:sp>
      <p:sp>
        <p:nvSpPr>
          <p:cNvPr id="7" name="Right Arrow 6"/>
          <p:cNvSpPr/>
          <p:nvPr/>
        </p:nvSpPr>
        <p:spPr>
          <a:xfrm>
            <a:off x="3941064" y="2788920"/>
            <a:ext cx="384048" cy="365760"/>
          </a:xfrm>
          <a:prstGeom prst="rightArrow">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2240280"/>
            <a:ext cx="3246120" cy="1463040"/>
          </a:xfrm>
          <a:prstGeom prst="roundRect">
            <a:avLst/>
          </a:prstGeom>
          <a:solidFill>
            <a:srgbClr val="1A1B20"/>
          </a:solidFill>
          <a:ln w="1905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000" b="1" i="0">
                <a:solidFill>
                  <a:srgbClr val="FF9900"/>
                </a:solidFill>
                <a:latin typeface="Segoe UI"/>
              </a:rPr>
              <a:t>Kiro</a:t>
            </a:r>
          </a:p>
          <a:p>
            <a:pPr algn="ctr">
              <a:lnSpc>
                <a:spcPct val="100000"/>
              </a:lnSpc>
              <a:spcAft>
                <a:spcPts val="400"/>
              </a:spcAft>
            </a:pPr>
            <a:r>
              <a:rPr sz="1400" b="0" i="0">
                <a:solidFill>
                  <a:srgbClr val="9A9FA8"/>
                </a:solidFill>
                <a:latin typeface="Segoe UI"/>
              </a:rPr>
              <a:t>agentic IDE</a:t>
            </a:r>
          </a:p>
        </p:txBody>
      </p:sp>
      <p:sp>
        <p:nvSpPr>
          <p:cNvPr id="9" name="Right Arrow 8"/>
          <p:cNvSpPr/>
          <p:nvPr/>
        </p:nvSpPr>
        <p:spPr>
          <a:xfrm>
            <a:off x="7690104" y="2788920"/>
            <a:ext cx="384048" cy="365760"/>
          </a:xfrm>
          <a:prstGeom prst="rightArrow">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60" y="2240280"/>
            <a:ext cx="3246120" cy="1463040"/>
          </a:xfrm>
          <a:prstGeom prst="roundRect">
            <a:avLst/>
          </a:prstGeom>
          <a:solidFill>
            <a:srgbClr val="1A1B2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000" b="1" i="0">
                <a:solidFill>
                  <a:srgbClr val="3B8EEA"/>
                </a:solidFill>
                <a:latin typeface="Segoe UI"/>
              </a:rPr>
              <a:t>Amazon Bedrock</a:t>
            </a:r>
          </a:p>
          <a:p>
            <a:pPr algn="ctr">
              <a:lnSpc>
                <a:spcPct val="100000"/>
              </a:lnSpc>
              <a:spcAft>
                <a:spcPts val="400"/>
              </a:spcAft>
            </a:pPr>
            <a:r>
              <a:rPr sz="1400" b="0" i="0">
                <a:solidFill>
                  <a:srgbClr val="9A9FA8"/>
                </a:solidFill>
                <a:latin typeface="Segoe UI"/>
              </a:rPr>
              <a:t>Claude</a:t>
            </a:r>
          </a:p>
        </p:txBody>
      </p:sp>
      <p:sp>
        <p:nvSpPr>
          <p:cNvPr id="11" name="Rounded Rectangle 10"/>
          <p:cNvSpPr/>
          <p:nvPr/>
        </p:nvSpPr>
        <p:spPr>
          <a:xfrm>
            <a:off x="640080" y="4023360"/>
            <a:ext cx="10908792" cy="1371600"/>
          </a:xfrm>
          <a:prstGeom prst="roundRect">
            <a:avLst/>
          </a:prstGeom>
          <a:solidFill>
            <a:srgbClr val="1A1B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10000"/>
              </a:lnSpc>
              <a:spcAft>
                <a:spcPts val="800"/>
              </a:spcAft>
            </a:pPr>
            <a:r>
              <a:rPr sz="2000" b="1" i="0">
                <a:solidFill>
                  <a:srgbClr val="E6E8EC"/>
                </a:solidFill>
                <a:latin typeface="Segoe UI"/>
              </a:rPr>
              <a:t>Model Context Protocol lets Kiro talk to Autodesk's own services and APIs —</a:t>
            </a:r>
          </a:p>
          <a:p>
            <a:pPr algn="ctr">
              <a:lnSpc>
                <a:spcPct val="110000"/>
              </a:lnSpc>
              <a:spcAft>
                <a:spcPts val="800"/>
              </a:spcAft>
            </a:pPr>
            <a:r>
              <a:rPr sz="1800" b="0" i="0">
                <a:solidFill>
                  <a:srgbClr val="FF9900"/>
                </a:solidFill>
                <a:latin typeface="Segoe UI"/>
              </a:rPr>
              <a:t>ask product questions, pull docs, and act on them, right inside the IDE.</a:t>
            </a:r>
          </a:p>
        </p:txBody>
      </p:sp>
      <p:sp>
        <p:nvSpPr>
          <p:cNvPr id="12" name="TextBox 11"/>
          <p:cNvSpPr txBox="1"/>
          <p:nvPr/>
        </p:nvSpPr>
        <p:spPr>
          <a:xfrm>
            <a:off x="640080" y="5669280"/>
            <a:ext cx="10972800" cy="457200"/>
          </a:xfrm>
          <a:prstGeom prst="rect">
            <a:avLst/>
          </a:prstGeom>
          <a:noFill/>
        </p:spPr>
        <p:txBody>
          <a:bodyPr wrap="square" anchor="t" lIns="0" rIns="0" tIns="0" bIns="0">
            <a:spAutoFit/>
          </a:bodyPr>
          <a:lstStyle/>
          <a:p>
            <a:pPr algn="l"/>
            <a:r>
              <a:rPr sz="1500" b="1" i="0">
                <a:solidFill>
                  <a:srgbClr val="3FB950"/>
                </a:solidFill>
                <a:latin typeface="Segoe UI"/>
              </a:rPr>
              <a:t>Already working today: the Autodesk Product Help MCP server connected to Kiro.</a:t>
            </a:r>
          </a:p>
        </p:txBody>
      </p:sp>
      <p:sp>
        <p:nvSpPr>
          <p:cNvPr id="13" name="TextBox 12"/>
          <p:cNvSpPr txBox="1"/>
          <p:nvPr/>
        </p:nvSpPr>
        <p:spPr>
          <a:xfrm>
            <a:off x="640080" y="6419088"/>
            <a:ext cx="9144000" cy="320040"/>
          </a:xfrm>
          <a:prstGeom prst="rect">
            <a:avLst/>
          </a:prstGeom>
          <a:noFill/>
        </p:spPr>
        <p:txBody>
          <a:bodyPr wrap="square" anchor="t" lIns="0" rIns="0" tIns="0" bIns="0">
            <a:spAutoFit/>
          </a:bodyPr>
          <a:lstStyle/>
          <a:p>
            <a:pPr algn="l"/>
            <a:r>
              <a:rPr sz="1000" b="0" i="0">
                <a:solidFill>
                  <a:srgbClr val="9A9FA8"/>
                </a:solidFill>
                <a:latin typeface="Segoe UI"/>
              </a:rPr>
              <a:t>Built on Kiro  ·  APS on AWS  ·  Autodesk University 2026</a:t>
            </a:r>
          </a:p>
        </p:txBody>
      </p:sp>
      <p:sp>
        <p:nvSpPr>
          <p:cNvPr id="14" name="TextBox 13"/>
          <p:cNvSpPr txBox="1"/>
          <p:nvPr/>
        </p:nvSpPr>
        <p:spPr>
          <a:xfrm>
            <a:off x="11338560" y="6419088"/>
            <a:ext cx="640080" cy="320040"/>
          </a:xfrm>
          <a:prstGeom prst="rect">
            <a:avLst/>
          </a:prstGeom>
          <a:noFill/>
        </p:spPr>
        <p:txBody>
          <a:bodyPr wrap="square" anchor="t" lIns="0" rIns="0" tIns="0" bIns="0">
            <a:spAutoFit/>
          </a:bodyPr>
          <a:lstStyle/>
          <a:p>
            <a:pPr algn="r"/>
            <a:r>
              <a:rPr sz="1100" b="0" i="0">
                <a:solidFill>
                  <a:srgbClr val="9A9FA8"/>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365760"/>
          </a:xfrm>
          <a:prstGeom prst="rect">
            <a:avLst/>
          </a:prstGeom>
          <a:noFill/>
        </p:spPr>
        <p:txBody>
          <a:bodyPr wrap="square" anchor="t" lIns="0" rIns="0" tIns="0" bIns="0">
            <a:spAutoFit/>
          </a:bodyPr>
          <a:lstStyle/>
          <a:p>
            <a:pPr algn="l"/>
            <a:r>
              <a:rPr sz="1500" b="1" i="0">
                <a:solidFill>
                  <a:srgbClr val="FF9900"/>
                </a:solidFill>
                <a:latin typeface="Segoe UI"/>
              </a:rPr>
              <a:t>SHIP IT</a:t>
            </a:r>
          </a:p>
        </p:txBody>
      </p:sp>
      <p:sp>
        <p:nvSpPr>
          <p:cNvPr id="4" name="TextBox 3"/>
          <p:cNvSpPr txBox="1"/>
          <p:nvPr/>
        </p:nvSpPr>
        <p:spPr>
          <a:xfrm>
            <a:off x="640080" y="749808"/>
            <a:ext cx="10972800" cy="822960"/>
          </a:xfrm>
          <a:prstGeom prst="rect">
            <a:avLst/>
          </a:prstGeom>
          <a:noFill/>
        </p:spPr>
        <p:txBody>
          <a:bodyPr wrap="square" anchor="t" lIns="0" rIns="0" tIns="0" bIns="0">
            <a:spAutoFit/>
          </a:bodyPr>
          <a:lstStyle/>
          <a:p>
            <a:pPr algn="l"/>
            <a:r>
              <a:rPr sz="3200" b="1" i="0">
                <a:solidFill>
                  <a:srgbClr val="FFFFFF"/>
                </a:solidFill>
                <a:latin typeface="Segoe UI"/>
              </a:rPr>
              <a:t>Deploy the APS app to AWS — in plain English</a:t>
            </a:r>
          </a:p>
        </p:txBody>
      </p:sp>
      <p:sp>
        <p:nvSpPr>
          <p:cNvPr id="5" name="Rounded Rectangle 4"/>
          <p:cNvSpPr/>
          <p:nvPr/>
        </p:nvSpPr>
        <p:spPr>
          <a:xfrm>
            <a:off x="640080" y="1170432"/>
            <a:ext cx="201168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11680"/>
            <a:ext cx="5486400" cy="3291840"/>
          </a:xfrm>
          <a:prstGeom prst="rect">
            <a:avLst/>
          </a:prstGeom>
          <a:noFill/>
        </p:spPr>
        <p:txBody>
          <a:bodyPr wrap="square" lIns="0" rIns="0" tIns="0" bIns="0">
            <a:spAutoFit/>
          </a:bodyPr>
          <a:lstStyle/>
          <a:p>
            <a:pPr>
              <a:lnSpc>
                <a:spcPct val="108000"/>
              </a:lnSpc>
              <a:spcAft>
                <a:spcPts val="1200"/>
              </a:spcAft>
            </a:pPr>
            <a:r>
              <a:rPr sz="1900" b="1">
                <a:solidFill>
                  <a:srgbClr val="FF9900"/>
                </a:solidFill>
                <a:latin typeface="Segoe UI"/>
              </a:rPr>
              <a:t>▸  </a:t>
            </a:r>
            <a:r>
              <a:rPr sz="1900">
                <a:solidFill>
                  <a:srgbClr val="E6E8EC"/>
                </a:solidFill>
                <a:latin typeface="Segoe UI"/>
              </a:rPr>
              <a:t>Describe the infrastructure you want.</a:t>
            </a:r>
          </a:p>
          <a:p>
            <a:pPr>
              <a:lnSpc>
                <a:spcPct val="108000"/>
              </a:lnSpc>
              <a:spcAft>
                <a:spcPts val="1200"/>
              </a:spcAft>
            </a:pPr>
            <a:r>
              <a:rPr sz="1900" b="1">
                <a:solidFill>
                  <a:srgbClr val="FF9900"/>
                </a:solidFill>
                <a:latin typeface="Segoe UI"/>
              </a:rPr>
              <a:t>▸  </a:t>
            </a:r>
            <a:r>
              <a:rPr sz="1900">
                <a:solidFill>
                  <a:srgbClr val="E6E8EC"/>
                </a:solidFill>
                <a:latin typeface="Segoe UI"/>
              </a:rPr>
              <a:t>Kiro turns it into infrastructure-as-code.</a:t>
            </a:r>
          </a:p>
          <a:p>
            <a:pPr>
              <a:lnSpc>
                <a:spcPct val="108000"/>
              </a:lnSpc>
              <a:spcAft>
                <a:spcPts val="1200"/>
              </a:spcAft>
            </a:pPr>
            <a:r>
              <a:rPr sz="1900" b="1">
                <a:solidFill>
                  <a:srgbClr val="FF9900"/>
                </a:solidFill>
                <a:latin typeface="Segoe UI"/>
              </a:rPr>
              <a:t>▸  </a:t>
            </a:r>
            <a:r>
              <a:rPr sz="1900">
                <a:solidFill>
                  <a:srgbClr val="E6E8EC"/>
                </a:solidFill>
                <a:latin typeface="Segoe UI"/>
              </a:rPr>
              <a:t>Deploys App Runner / ECS Fargate + Amazon S3.</a:t>
            </a:r>
          </a:p>
          <a:p>
            <a:pPr>
              <a:lnSpc>
                <a:spcPct val="108000"/>
              </a:lnSpc>
              <a:spcAft>
                <a:spcPts val="1200"/>
              </a:spcAft>
            </a:pPr>
            <a:r>
              <a:rPr sz="1900" b="1">
                <a:solidFill>
                  <a:srgbClr val="FF9900"/>
                </a:solidFill>
                <a:latin typeface="Segoe UI"/>
              </a:rPr>
              <a:t>▸  </a:t>
            </a:r>
            <a:r>
              <a:rPr sz="1900">
                <a:solidFill>
                  <a:srgbClr val="E6E8EC"/>
                </a:solidFill>
                <a:latin typeface="Segoe UI"/>
              </a:rPr>
              <a:t>Adds Amazon Cognito sign-in and CloudFront.</a:t>
            </a:r>
          </a:p>
          <a:p>
            <a:pPr>
              <a:lnSpc>
                <a:spcPct val="108000"/>
              </a:lnSpc>
              <a:spcAft>
                <a:spcPts val="1200"/>
              </a:spcAft>
            </a:pPr>
            <a:r>
              <a:rPr sz="1900" b="1">
                <a:solidFill>
                  <a:srgbClr val="FF9900"/>
                </a:solidFill>
                <a:latin typeface="Segoe UI"/>
              </a:rPr>
              <a:t>▸  </a:t>
            </a:r>
            <a:r>
              <a:rPr sz="1900">
                <a:solidFill>
                  <a:srgbClr val="E6E8EC"/>
                </a:solidFill>
                <a:latin typeface="Segoe UI"/>
              </a:rPr>
              <a:t>Live HTTPS URL in minutes — no hand-written YAML.</a:t>
            </a:r>
          </a:p>
        </p:txBody>
      </p:sp>
      <p:sp>
        <p:nvSpPr>
          <p:cNvPr id="7" name="Rounded Rectangle 6"/>
          <p:cNvSpPr/>
          <p:nvPr/>
        </p:nvSpPr>
        <p:spPr>
          <a:xfrm>
            <a:off x="6355080" y="2011680"/>
            <a:ext cx="5193792" cy="3840480"/>
          </a:xfrm>
          <a:prstGeom prst="roundRect">
            <a:avLst/>
          </a:prstGeom>
          <a:solidFill>
            <a:srgbClr val="0A0B0E"/>
          </a:solidFill>
          <a:ln w="15875">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74320" tIns="777240"/>
          <a:lstStyle/>
          <a:p>
            <a:pPr algn="ctr">
              <a:lnSpc>
                <a:spcPct val="125000"/>
              </a:lnSpc>
            </a:pPr>
            <a:r>
              <a:rPr sz="1800">
                <a:solidFill>
                  <a:srgbClr val="8FE388"/>
                </a:solidFill>
                <a:latin typeface="Consolas"/>
              </a:rPr>
              <a:t>"Containerize this Autodesk Platform Services viewer app and deploy it to AWS App Runner. Put my APS Client ID and Secret in Secrets Manager, create the IAM roles, and give me the live HTTPS URL."</a:t>
            </a:r>
          </a:p>
        </p:txBody>
      </p:sp>
      <p:sp>
        <p:nvSpPr>
          <p:cNvPr id="8" name="Rounded Rectangle 7"/>
          <p:cNvSpPr/>
          <p:nvPr/>
        </p:nvSpPr>
        <p:spPr>
          <a:xfrm>
            <a:off x="6355080" y="2011680"/>
            <a:ext cx="5193792" cy="457200"/>
          </a:xfrm>
          <a:prstGeom prst="roundRect">
            <a:avLst/>
          </a:prstGeom>
          <a:solidFill>
            <a:srgbClr val="242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075688"/>
            <a:ext cx="4572000" cy="365760"/>
          </a:xfrm>
          <a:prstGeom prst="rect">
            <a:avLst/>
          </a:prstGeom>
          <a:noFill/>
        </p:spPr>
        <p:txBody>
          <a:bodyPr wrap="square" anchor="t" lIns="0" rIns="0" tIns="0" bIns="0">
            <a:spAutoFit/>
          </a:bodyPr>
          <a:lstStyle/>
          <a:p>
            <a:pPr algn="l"/>
            <a:r>
              <a:rPr sz="1300" b="1" i="0">
                <a:solidFill>
                  <a:srgbClr val="FF9900"/>
                </a:solidFill>
                <a:latin typeface="Consolas"/>
              </a:rPr>
              <a:t>▸ natural-language prompt to Kiro</a:t>
            </a:r>
          </a:p>
        </p:txBody>
      </p:sp>
      <p:sp>
        <p:nvSpPr>
          <p:cNvPr id="10" name="TextBox 9"/>
          <p:cNvSpPr txBox="1"/>
          <p:nvPr/>
        </p:nvSpPr>
        <p:spPr>
          <a:xfrm>
            <a:off x="640080" y="6419088"/>
            <a:ext cx="9144000" cy="320040"/>
          </a:xfrm>
          <a:prstGeom prst="rect">
            <a:avLst/>
          </a:prstGeom>
          <a:noFill/>
        </p:spPr>
        <p:txBody>
          <a:bodyPr wrap="square" anchor="t" lIns="0" rIns="0" tIns="0" bIns="0">
            <a:spAutoFit/>
          </a:bodyPr>
          <a:lstStyle/>
          <a:p>
            <a:pPr algn="l"/>
            <a:r>
              <a:rPr sz="1000" b="0" i="0">
                <a:solidFill>
                  <a:srgbClr val="9A9FA8"/>
                </a:solidFill>
                <a:latin typeface="Segoe UI"/>
              </a:rPr>
              <a:t>Built on Kiro  ·  APS on AWS  ·  Autodesk University 2026</a:t>
            </a:r>
          </a:p>
        </p:txBody>
      </p:sp>
      <p:sp>
        <p:nvSpPr>
          <p:cNvPr id="11" name="TextBox 10"/>
          <p:cNvSpPr txBox="1"/>
          <p:nvPr/>
        </p:nvSpPr>
        <p:spPr>
          <a:xfrm>
            <a:off x="11338560" y="6419088"/>
            <a:ext cx="640080" cy="320040"/>
          </a:xfrm>
          <a:prstGeom prst="rect">
            <a:avLst/>
          </a:prstGeom>
          <a:noFill/>
        </p:spPr>
        <p:txBody>
          <a:bodyPr wrap="square" anchor="t" lIns="0" rIns="0" tIns="0" bIns="0">
            <a:spAutoFit/>
          </a:bodyPr>
          <a:lstStyle/>
          <a:p>
            <a:pPr algn="r"/>
            <a:r>
              <a:rPr sz="1100" b="0" i="0">
                <a:solidFill>
                  <a:srgbClr val="9A9FA8"/>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365760"/>
          </a:xfrm>
          <a:prstGeom prst="rect">
            <a:avLst/>
          </a:prstGeom>
          <a:noFill/>
        </p:spPr>
        <p:txBody>
          <a:bodyPr wrap="square" anchor="t" lIns="0" rIns="0" tIns="0" bIns="0">
            <a:spAutoFit/>
          </a:bodyPr>
          <a:lstStyle/>
          <a:p>
            <a:pPr algn="l"/>
            <a:r>
              <a:rPr sz="1500" b="1" i="0">
                <a:solidFill>
                  <a:srgbClr val="FF9900"/>
                </a:solidFill>
                <a:latin typeface="Segoe UI"/>
              </a:rPr>
              <a:t>WHY IT MATTERS</a:t>
            </a:r>
          </a:p>
        </p:txBody>
      </p:sp>
      <p:sp>
        <p:nvSpPr>
          <p:cNvPr id="4" name="TextBox 3"/>
          <p:cNvSpPr txBox="1"/>
          <p:nvPr/>
        </p:nvSpPr>
        <p:spPr>
          <a:xfrm>
            <a:off x="640080" y="749808"/>
            <a:ext cx="10972800" cy="822960"/>
          </a:xfrm>
          <a:prstGeom prst="rect">
            <a:avLst/>
          </a:prstGeom>
          <a:noFill/>
        </p:spPr>
        <p:txBody>
          <a:bodyPr wrap="square" anchor="t" lIns="0" rIns="0" tIns="0" bIns="0">
            <a:spAutoFit/>
          </a:bodyPr>
          <a:lstStyle/>
          <a:p>
            <a:pPr algn="l"/>
            <a:r>
              <a:rPr sz="3200" b="1" i="0">
                <a:solidFill>
                  <a:srgbClr val="FFFFFF"/>
                </a:solidFill>
                <a:latin typeface="Segoe UI"/>
              </a:rPr>
              <a:t>Kiro is AWS-native — structured, visible, governed</a:t>
            </a:r>
          </a:p>
        </p:txBody>
      </p:sp>
      <p:sp>
        <p:nvSpPr>
          <p:cNvPr id="5" name="Rounded Rectangle 4"/>
          <p:cNvSpPr/>
          <p:nvPr/>
        </p:nvSpPr>
        <p:spPr>
          <a:xfrm>
            <a:off x="640080" y="1170432"/>
            <a:ext cx="201168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5394960" cy="1828800"/>
          </a:xfrm>
          <a:prstGeom prst="roundRect">
            <a:avLst/>
          </a:prstGeom>
          <a:solidFill>
            <a:srgbClr val="1A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11680"/>
            <a:ext cx="128016" cy="18288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86000"/>
            <a:ext cx="4663440" cy="640080"/>
          </a:xfrm>
          <a:prstGeom prst="rect">
            <a:avLst/>
          </a:prstGeom>
          <a:noFill/>
        </p:spPr>
        <p:txBody>
          <a:bodyPr wrap="square" anchor="t" lIns="0" rIns="0" tIns="0" bIns="0">
            <a:spAutoFit/>
          </a:bodyPr>
          <a:lstStyle/>
          <a:p>
            <a:pPr algn="l"/>
            <a:r>
              <a:rPr sz="2300" b="1" i="0">
                <a:solidFill>
                  <a:srgbClr val="FFFFFF"/>
                </a:solidFill>
                <a:latin typeface="Segoe UI"/>
              </a:rPr>
              <a:t>AWS-native</a:t>
            </a:r>
          </a:p>
        </p:txBody>
      </p:sp>
      <p:sp>
        <p:nvSpPr>
          <p:cNvPr id="9" name="TextBox 8"/>
          <p:cNvSpPr txBox="1"/>
          <p:nvPr/>
        </p:nvSpPr>
        <p:spPr>
          <a:xfrm>
            <a:off x="1051560" y="3017520"/>
            <a:ext cx="4663440" cy="731520"/>
          </a:xfrm>
          <a:prstGeom prst="rect">
            <a:avLst/>
          </a:prstGeom>
          <a:noFill/>
        </p:spPr>
        <p:txBody>
          <a:bodyPr wrap="square" anchor="t" lIns="0" rIns="0" tIns="0" bIns="0">
            <a:spAutoFit/>
          </a:bodyPr>
          <a:lstStyle/>
          <a:p>
            <a:pPr algn="l">
              <a:lnSpc>
                <a:spcPct val="110000"/>
              </a:lnSpc>
            </a:pPr>
            <a:r>
              <a:rPr sz="1700" b="0" i="0">
                <a:solidFill>
                  <a:srgbClr val="E6E8EC"/>
                </a:solidFill>
                <a:latin typeface="Segoe UI"/>
              </a:rPr>
              <a:t>Runs on Amazon Bedrock; code and context stay in your AWS boundary.</a:t>
            </a:r>
          </a:p>
        </p:txBody>
      </p:sp>
      <p:sp>
        <p:nvSpPr>
          <p:cNvPr id="10" name="Rounded Rectangle 9"/>
          <p:cNvSpPr/>
          <p:nvPr/>
        </p:nvSpPr>
        <p:spPr>
          <a:xfrm>
            <a:off x="6336792" y="2011680"/>
            <a:ext cx="5394960" cy="1828800"/>
          </a:xfrm>
          <a:prstGeom prst="roundRect">
            <a:avLst/>
          </a:prstGeom>
          <a:solidFill>
            <a:srgbClr val="1A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36792" y="2011680"/>
            <a:ext cx="128016" cy="1828800"/>
          </a:xfrm>
          <a:prstGeom prst="roundRect">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2" y="2286000"/>
            <a:ext cx="4663440" cy="640080"/>
          </a:xfrm>
          <a:prstGeom prst="rect">
            <a:avLst/>
          </a:prstGeom>
          <a:noFill/>
        </p:spPr>
        <p:txBody>
          <a:bodyPr wrap="square" anchor="t" lIns="0" rIns="0" tIns="0" bIns="0">
            <a:spAutoFit/>
          </a:bodyPr>
          <a:lstStyle/>
          <a:p>
            <a:pPr algn="l"/>
            <a:r>
              <a:rPr sz="2300" b="1" i="0">
                <a:solidFill>
                  <a:srgbClr val="FFFFFF"/>
                </a:solidFill>
                <a:latin typeface="Segoe UI"/>
              </a:rPr>
              <a:t>Structured</a:t>
            </a:r>
          </a:p>
        </p:txBody>
      </p:sp>
      <p:sp>
        <p:nvSpPr>
          <p:cNvPr id="13" name="TextBox 12"/>
          <p:cNvSpPr txBox="1"/>
          <p:nvPr/>
        </p:nvSpPr>
        <p:spPr>
          <a:xfrm>
            <a:off x="6748272" y="3017520"/>
            <a:ext cx="4663440" cy="731520"/>
          </a:xfrm>
          <a:prstGeom prst="rect">
            <a:avLst/>
          </a:prstGeom>
          <a:noFill/>
        </p:spPr>
        <p:txBody>
          <a:bodyPr wrap="square" anchor="t" lIns="0" rIns="0" tIns="0" bIns="0">
            <a:spAutoFit/>
          </a:bodyPr>
          <a:lstStyle/>
          <a:p>
            <a:pPr algn="l">
              <a:lnSpc>
                <a:spcPct val="110000"/>
              </a:lnSpc>
            </a:pPr>
            <a:r>
              <a:rPr sz="1700" b="0" i="0">
                <a:solidFill>
                  <a:srgbClr val="E6E8EC"/>
                </a:solidFill>
                <a:latin typeface="Segoe UI"/>
              </a:rPr>
              <a:t>Spec-driven — a reviewable plan before any code.</a:t>
            </a:r>
          </a:p>
        </p:txBody>
      </p:sp>
      <p:sp>
        <p:nvSpPr>
          <p:cNvPr id="14" name="Rounded Rectangle 13"/>
          <p:cNvSpPr/>
          <p:nvPr/>
        </p:nvSpPr>
        <p:spPr>
          <a:xfrm>
            <a:off x="640080" y="4160520"/>
            <a:ext cx="5394960" cy="1828800"/>
          </a:xfrm>
          <a:prstGeom prst="roundRect">
            <a:avLst/>
          </a:prstGeom>
          <a:solidFill>
            <a:srgbClr val="1A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4160520"/>
            <a:ext cx="128016" cy="1828800"/>
          </a:xfrm>
          <a:prstGeom prst="round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434840"/>
            <a:ext cx="4663440" cy="640080"/>
          </a:xfrm>
          <a:prstGeom prst="rect">
            <a:avLst/>
          </a:prstGeom>
          <a:noFill/>
        </p:spPr>
        <p:txBody>
          <a:bodyPr wrap="square" anchor="t" lIns="0" rIns="0" tIns="0" bIns="0">
            <a:spAutoFit/>
          </a:bodyPr>
          <a:lstStyle/>
          <a:p>
            <a:pPr algn="l"/>
            <a:r>
              <a:rPr sz="2300" b="1" i="0">
                <a:solidFill>
                  <a:srgbClr val="FFFFFF"/>
                </a:solidFill>
                <a:latin typeface="Segoe UI"/>
              </a:rPr>
              <a:t>Automated</a:t>
            </a:r>
          </a:p>
        </p:txBody>
      </p:sp>
      <p:sp>
        <p:nvSpPr>
          <p:cNvPr id="17" name="TextBox 16"/>
          <p:cNvSpPr txBox="1"/>
          <p:nvPr/>
        </p:nvSpPr>
        <p:spPr>
          <a:xfrm>
            <a:off x="1051560" y="5166360"/>
            <a:ext cx="4663440" cy="731520"/>
          </a:xfrm>
          <a:prstGeom prst="rect">
            <a:avLst/>
          </a:prstGeom>
          <a:noFill/>
        </p:spPr>
        <p:txBody>
          <a:bodyPr wrap="square" anchor="t" lIns="0" rIns="0" tIns="0" bIns="0">
            <a:spAutoFit/>
          </a:bodyPr>
          <a:lstStyle/>
          <a:p>
            <a:pPr algn="l">
              <a:lnSpc>
                <a:spcPct val="110000"/>
              </a:lnSpc>
            </a:pPr>
            <a:r>
              <a:rPr sz="1700" b="0" i="0">
                <a:solidFill>
                  <a:srgbClr val="E6E8EC"/>
                </a:solidFill>
                <a:latin typeface="Segoe UI"/>
              </a:rPr>
              <a:t>Agent Hooks handle the repetitive steps for you.</a:t>
            </a:r>
          </a:p>
        </p:txBody>
      </p:sp>
      <p:sp>
        <p:nvSpPr>
          <p:cNvPr id="18" name="Rounded Rectangle 17"/>
          <p:cNvSpPr/>
          <p:nvPr/>
        </p:nvSpPr>
        <p:spPr>
          <a:xfrm>
            <a:off x="6336792" y="4160520"/>
            <a:ext cx="5394960" cy="1828800"/>
          </a:xfrm>
          <a:prstGeom prst="roundRect">
            <a:avLst/>
          </a:prstGeom>
          <a:solidFill>
            <a:srgbClr val="1A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36792" y="4160520"/>
            <a:ext cx="128016" cy="182880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48272" y="4434840"/>
            <a:ext cx="4663440" cy="640080"/>
          </a:xfrm>
          <a:prstGeom prst="rect">
            <a:avLst/>
          </a:prstGeom>
          <a:noFill/>
        </p:spPr>
        <p:txBody>
          <a:bodyPr wrap="square" anchor="t" lIns="0" rIns="0" tIns="0" bIns="0">
            <a:spAutoFit/>
          </a:bodyPr>
          <a:lstStyle/>
          <a:p>
            <a:pPr algn="l"/>
            <a:r>
              <a:rPr sz="2300" b="1" i="0">
                <a:solidFill>
                  <a:srgbClr val="FFFFFF"/>
                </a:solidFill>
                <a:latin typeface="Segoe UI"/>
              </a:rPr>
              <a:t>On-standard</a:t>
            </a:r>
          </a:p>
        </p:txBody>
      </p:sp>
      <p:sp>
        <p:nvSpPr>
          <p:cNvPr id="21" name="TextBox 20"/>
          <p:cNvSpPr txBox="1"/>
          <p:nvPr/>
        </p:nvSpPr>
        <p:spPr>
          <a:xfrm>
            <a:off x="6748272" y="5166360"/>
            <a:ext cx="4663440" cy="731520"/>
          </a:xfrm>
          <a:prstGeom prst="rect">
            <a:avLst/>
          </a:prstGeom>
          <a:noFill/>
        </p:spPr>
        <p:txBody>
          <a:bodyPr wrap="square" anchor="t" lIns="0" rIns="0" tIns="0" bIns="0">
            <a:spAutoFit/>
          </a:bodyPr>
          <a:lstStyle/>
          <a:p>
            <a:pPr algn="l">
              <a:lnSpc>
                <a:spcPct val="110000"/>
              </a:lnSpc>
            </a:pPr>
            <a:r>
              <a:rPr sz="1700" b="0" i="0">
                <a:solidFill>
                  <a:srgbClr val="E6E8EC"/>
                </a:solidFill>
                <a:latin typeface="Segoe UI"/>
              </a:rPr>
              <a:t>Steering files enforce your rules on every change.</a:t>
            </a:r>
          </a:p>
        </p:txBody>
      </p:sp>
      <p:sp>
        <p:nvSpPr>
          <p:cNvPr id="22" name="TextBox 21"/>
          <p:cNvSpPr txBox="1"/>
          <p:nvPr/>
        </p:nvSpPr>
        <p:spPr>
          <a:xfrm>
            <a:off x="640080" y="6419088"/>
            <a:ext cx="9144000" cy="320040"/>
          </a:xfrm>
          <a:prstGeom prst="rect">
            <a:avLst/>
          </a:prstGeom>
          <a:noFill/>
        </p:spPr>
        <p:txBody>
          <a:bodyPr wrap="square" anchor="t" lIns="0" rIns="0" tIns="0" bIns="0">
            <a:spAutoFit/>
          </a:bodyPr>
          <a:lstStyle/>
          <a:p>
            <a:pPr algn="l"/>
            <a:r>
              <a:rPr sz="1000" b="0" i="0">
                <a:solidFill>
                  <a:srgbClr val="9A9FA8"/>
                </a:solidFill>
                <a:latin typeface="Segoe UI"/>
              </a:rPr>
              <a:t>Built on Kiro  ·  APS on AWS  ·  Autodesk University 2026</a:t>
            </a:r>
          </a:p>
        </p:txBody>
      </p:sp>
      <p:sp>
        <p:nvSpPr>
          <p:cNvPr id="23" name="TextBox 22"/>
          <p:cNvSpPr txBox="1"/>
          <p:nvPr/>
        </p:nvSpPr>
        <p:spPr>
          <a:xfrm>
            <a:off x="11338560" y="6419088"/>
            <a:ext cx="640080" cy="320040"/>
          </a:xfrm>
          <a:prstGeom prst="rect">
            <a:avLst/>
          </a:prstGeom>
          <a:noFill/>
        </p:spPr>
        <p:txBody>
          <a:bodyPr wrap="square" anchor="t" lIns="0" rIns="0" tIns="0" bIns="0">
            <a:spAutoFit/>
          </a:bodyPr>
          <a:lstStyle/>
          <a:p>
            <a:pPr algn="r"/>
            <a:r>
              <a:rPr sz="1100" b="0" i="0">
                <a:solidFill>
                  <a:srgbClr val="9A9FA8"/>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365760"/>
          </a:xfrm>
          <a:prstGeom prst="rect">
            <a:avLst/>
          </a:prstGeom>
          <a:noFill/>
        </p:spPr>
        <p:txBody>
          <a:bodyPr wrap="square" anchor="t" lIns="0" rIns="0" tIns="0" bIns="0">
            <a:spAutoFit/>
          </a:bodyPr>
          <a:lstStyle/>
          <a:p>
            <a:pPr algn="l"/>
            <a:r>
              <a:rPr sz="1500" b="1" i="0">
                <a:solidFill>
                  <a:srgbClr val="FF9900"/>
                </a:solidFill>
                <a:latin typeface="Segoe UI"/>
              </a:rPr>
              <a:t>AT THE BOOTH</a:t>
            </a:r>
          </a:p>
        </p:txBody>
      </p:sp>
      <p:sp>
        <p:nvSpPr>
          <p:cNvPr id="4" name="TextBox 3"/>
          <p:cNvSpPr txBox="1"/>
          <p:nvPr/>
        </p:nvSpPr>
        <p:spPr>
          <a:xfrm>
            <a:off x="640080" y="749808"/>
            <a:ext cx="10972800" cy="822960"/>
          </a:xfrm>
          <a:prstGeom prst="rect">
            <a:avLst/>
          </a:prstGeom>
          <a:noFill/>
        </p:spPr>
        <p:txBody>
          <a:bodyPr wrap="square" anchor="t" lIns="0" rIns="0" tIns="0" bIns="0">
            <a:spAutoFit/>
          </a:bodyPr>
          <a:lstStyle/>
          <a:p>
            <a:pPr algn="l"/>
            <a:r>
              <a:rPr sz="3200" b="1" i="0">
                <a:solidFill>
                  <a:srgbClr val="FFFFFF"/>
                </a:solidFill>
                <a:latin typeface="Segoe UI"/>
              </a:rPr>
              <a:t>This entire demo was built on Kiro</a:t>
            </a:r>
          </a:p>
        </p:txBody>
      </p:sp>
      <p:sp>
        <p:nvSpPr>
          <p:cNvPr id="5" name="Rounded Rectangle 4"/>
          <p:cNvSpPr/>
          <p:nvPr/>
        </p:nvSpPr>
        <p:spPr>
          <a:xfrm>
            <a:off x="640080" y="1170432"/>
            <a:ext cx="201168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57400"/>
            <a:ext cx="10908792" cy="1280160"/>
          </a:xfrm>
          <a:prstGeom prst="roundRect">
            <a:avLst/>
          </a:prstGeom>
          <a:solidFill>
            <a:srgbClr val="1A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2404872"/>
            <a:ext cx="566928" cy="56692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600" b="1" i="0">
                <a:solidFill>
                  <a:srgbClr val="000000"/>
                </a:solidFill>
                <a:latin typeface="Segoe UI"/>
              </a:rPr>
              <a:t>a</a:t>
            </a:r>
          </a:p>
        </p:txBody>
      </p:sp>
      <p:sp>
        <p:nvSpPr>
          <p:cNvPr id="8" name="TextBox 7"/>
          <p:cNvSpPr txBox="1"/>
          <p:nvPr/>
        </p:nvSpPr>
        <p:spPr>
          <a:xfrm>
            <a:off x="1828800" y="2276856"/>
            <a:ext cx="9326880" cy="502920"/>
          </a:xfrm>
          <a:prstGeom prst="rect">
            <a:avLst/>
          </a:prstGeom>
          <a:noFill/>
        </p:spPr>
        <p:txBody>
          <a:bodyPr wrap="square" anchor="t" lIns="0" rIns="0" tIns="0" bIns="0">
            <a:spAutoFit/>
          </a:bodyPr>
          <a:lstStyle/>
          <a:p>
            <a:pPr algn="l"/>
            <a:r>
              <a:rPr sz="2400" b="1" i="0">
                <a:solidFill>
                  <a:srgbClr val="FFFFFF"/>
                </a:solidFill>
                <a:latin typeface="Segoe UI"/>
              </a:rPr>
              <a:t>The APS viewer app</a:t>
            </a:r>
          </a:p>
        </p:txBody>
      </p:sp>
      <p:sp>
        <p:nvSpPr>
          <p:cNvPr id="9" name="TextBox 8"/>
          <p:cNvSpPr txBox="1"/>
          <p:nvPr/>
        </p:nvSpPr>
        <p:spPr>
          <a:xfrm>
            <a:off x="1828800" y="2807208"/>
            <a:ext cx="9326880" cy="457200"/>
          </a:xfrm>
          <a:prstGeom prst="rect">
            <a:avLst/>
          </a:prstGeom>
          <a:noFill/>
        </p:spPr>
        <p:txBody>
          <a:bodyPr wrap="square" anchor="t" lIns="0" rIns="0" tIns="0" bIns="0">
            <a:spAutoFit/>
          </a:bodyPr>
          <a:lstStyle/>
          <a:p>
            <a:pPr algn="l"/>
            <a:r>
              <a:rPr sz="1600" b="0" i="0">
                <a:solidFill>
                  <a:srgbClr val="E6E8EC"/>
                </a:solidFill>
                <a:latin typeface="Segoe UI"/>
              </a:rPr>
              <a:t>Generated and wired to the Model Derivative API with Kiro.</a:t>
            </a:r>
          </a:p>
        </p:txBody>
      </p:sp>
      <p:sp>
        <p:nvSpPr>
          <p:cNvPr id="10" name="Rounded Rectangle 9"/>
          <p:cNvSpPr/>
          <p:nvPr/>
        </p:nvSpPr>
        <p:spPr>
          <a:xfrm>
            <a:off x="640080" y="3538728"/>
            <a:ext cx="10908792" cy="1280160"/>
          </a:xfrm>
          <a:prstGeom prst="roundRect">
            <a:avLst/>
          </a:prstGeom>
          <a:solidFill>
            <a:srgbClr val="1A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3886200"/>
            <a:ext cx="566928" cy="566928"/>
          </a:xfrm>
          <a:prstGeom prst="ellipse">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600" b="1" i="0">
                <a:solidFill>
                  <a:srgbClr val="FFFFFF"/>
                </a:solidFill>
                <a:latin typeface="Segoe UI"/>
              </a:rPr>
              <a:t>b</a:t>
            </a:r>
          </a:p>
        </p:txBody>
      </p:sp>
      <p:sp>
        <p:nvSpPr>
          <p:cNvPr id="12" name="TextBox 11"/>
          <p:cNvSpPr txBox="1"/>
          <p:nvPr/>
        </p:nvSpPr>
        <p:spPr>
          <a:xfrm>
            <a:off x="1828800" y="3758184"/>
            <a:ext cx="9326880" cy="502920"/>
          </a:xfrm>
          <a:prstGeom prst="rect">
            <a:avLst/>
          </a:prstGeom>
          <a:noFill/>
        </p:spPr>
        <p:txBody>
          <a:bodyPr wrap="square" anchor="t" lIns="0" rIns="0" tIns="0" bIns="0">
            <a:spAutoFit/>
          </a:bodyPr>
          <a:lstStyle/>
          <a:p>
            <a:pPr algn="l"/>
            <a:r>
              <a:rPr sz="2400" b="1" i="0">
                <a:solidFill>
                  <a:srgbClr val="FFFFFF"/>
                </a:solidFill>
                <a:latin typeface="Segoe UI"/>
              </a:rPr>
              <a:t>The AWS deployment</a:t>
            </a:r>
          </a:p>
        </p:txBody>
      </p:sp>
      <p:sp>
        <p:nvSpPr>
          <p:cNvPr id="13" name="TextBox 12"/>
          <p:cNvSpPr txBox="1"/>
          <p:nvPr/>
        </p:nvSpPr>
        <p:spPr>
          <a:xfrm>
            <a:off x="1828800" y="4288536"/>
            <a:ext cx="9326880" cy="457200"/>
          </a:xfrm>
          <a:prstGeom prst="rect">
            <a:avLst/>
          </a:prstGeom>
          <a:noFill/>
        </p:spPr>
        <p:txBody>
          <a:bodyPr wrap="square" anchor="t" lIns="0" rIns="0" tIns="0" bIns="0">
            <a:spAutoFit/>
          </a:bodyPr>
          <a:lstStyle/>
          <a:p>
            <a:pPr algn="l"/>
            <a:r>
              <a:rPr sz="1600" b="0" i="0">
                <a:solidFill>
                  <a:srgbClr val="E6E8EC"/>
                </a:solidFill>
                <a:latin typeface="Segoe UI"/>
              </a:rPr>
              <a:t>App Runner + S3 + Cognito, described in plain English.</a:t>
            </a:r>
          </a:p>
        </p:txBody>
      </p:sp>
      <p:sp>
        <p:nvSpPr>
          <p:cNvPr id="14" name="Rounded Rectangle 13"/>
          <p:cNvSpPr/>
          <p:nvPr/>
        </p:nvSpPr>
        <p:spPr>
          <a:xfrm>
            <a:off x="640080" y="5020056"/>
            <a:ext cx="10908792" cy="1280160"/>
          </a:xfrm>
          <a:prstGeom prst="roundRect">
            <a:avLst/>
          </a:prstGeom>
          <a:solidFill>
            <a:srgbClr val="1A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60120" y="5367528"/>
            <a:ext cx="566928" cy="566928"/>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lnSpc>
                <a:spcPct val="100000"/>
              </a:lnSpc>
              <a:spcAft>
                <a:spcPts val="400"/>
              </a:spcAft>
            </a:pPr>
            <a:r>
              <a:rPr sz="2600" b="1" i="0">
                <a:solidFill>
                  <a:srgbClr val="000000"/>
                </a:solidFill>
                <a:latin typeface="Segoe UI"/>
              </a:rPr>
              <a:t>c</a:t>
            </a:r>
          </a:p>
        </p:txBody>
      </p:sp>
      <p:sp>
        <p:nvSpPr>
          <p:cNvPr id="16" name="TextBox 15"/>
          <p:cNvSpPr txBox="1"/>
          <p:nvPr/>
        </p:nvSpPr>
        <p:spPr>
          <a:xfrm>
            <a:off x="1828800" y="5239512"/>
            <a:ext cx="9326880" cy="502920"/>
          </a:xfrm>
          <a:prstGeom prst="rect">
            <a:avLst/>
          </a:prstGeom>
          <a:noFill/>
        </p:spPr>
        <p:txBody>
          <a:bodyPr wrap="square" anchor="t" lIns="0" rIns="0" tIns="0" bIns="0">
            <a:spAutoFit/>
          </a:bodyPr>
          <a:lstStyle/>
          <a:p>
            <a:pPr algn="l"/>
            <a:r>
              <a:rPr sz="2400" b="1" i="0">
                <a:solidFill>
                  <a:srgbClr val="FFFFFF"/>
                </a:solidFill>
                <a:latin typeface="Segoe UI"/>
              </a:rPr>
              <a:t>The Autodesk MCP integration</a:t>
            </a:r>
          </a:p>
        </p:txBody>
      </p:sp>
      <p:sp>
        <p:nvSpPr>
          <p:cNvPr id="17" name="TextBox 16"/>
          <p:cNvSpPr txBox="1"/>
          <p:nvPr/>
        </p:nvSpPr>
        <p:spPr>
          <a:xfrm>
            <a:off x="1828800" y="5769864"/>
            <a:ext cx="9326880" cy="457200"/>
          </a:xfrm>
          <a:prstGeom prst="rect">
            <a:avLst/>
          </a:prstGeom>
          <a:noFill/>
        </p:spPr>
        <p:txBody>
          <a:bodyPr wrap="square" anchor="t" lIns="0" rIns="0" tIns="0" bIns="0">
            <a:spAutoFit/>
          </a:bodyPr>
          <a:lstStyle/>
          <a:p>
            <a:pPr algn="l"/>
            <a:r>
              <a:rPr sz="1600" b="0" i="0">
                <a:solidFill>
                  <a:srgbClr val="E6E8EC"/>
                </a:solidFill>
                <a:latin typeface="Segoe UI"/>
              </a:rPr>
              <a:t>Product Help MCP connected to Kiro, live today.</a:t>
            </a:r>
          </a:p>
        </p:txBody>
      </p:sp>
      <p:sp>
        <p:nvSpPr>
          <p:cNvPr id="18" name="TextBox 17"/>
          <p:cNvSpPr txBox="1"/>
          <p:nvPr/>
        </p:nvSpPr>
        <p:spPr>
          <a:xfrm>
            <a:off x="640080" y="6419088"/>
            <a:ext cx="9144000" cy="320040"/>
          </a:xfrm>
          <a:prstGeom prst="rect">
            <a:avLst/>
          </a:prstGeom>
          <a:noFill/>
        </p:spPr>
        <p:txBody>
          <a:bodyPr wrap="square" anchor="t" lIns="0" rIns="0" tIns="0" bIns="0">
            <a:spAutoFit/>
          </a:bodyPr>
          <a:lstStyle/>
          <a:p>
            <a:pPr algn="l"/>
            <a:r>
              <a:rPr sz="1000" b="0" i="0">
                <a:solidFill>
                  <a:srgbClr val="9A9FA8"/>
                </a:solidFill>
                <a:latin typeface="Segoe UI"/>
              </a:rPr>
              <a:t>Built on Kiro  ·  APS on AWS  ·  Autodesk University 2026</a:t>
            </a:r>
          </a:p>
        </p:txBody>
      </p:sp>
      <p:sp>
        <p:nvSpPr>
          <p:cNvPr id="19" name="TextBox 18"/>
          <p:cNvSpPr txBox="1"/>
          <p:nvPr/>
        </p:nvSpPr>
        <p:spPr>
          <a:xfrm>
            <a:off x="11338560" y="6419088"/>
            <a:ext cx="640080" cy="320040"/>
          </a:xfrm>
          <a:prstGeom prst="rect">
            <a:avLst/>
          </a:prstGeom>
          <a:noFill/>
        </p:spPr>
        <p:txBody>
          <a:bodyPr wrap="square" anchor="t" lIns="0" rIns="0" tIns="0" bIns="0">
            <a:spAutoFit/>
          </a:bodyPr>
          <a:lstStyle/>
          <a:p>
            <a:pPr algn="r"/>
            <a:r>
              <a:rPr sz="1100" b="0" i="0">
                <a:solidFill>
                  <a:srgbClr val="9A9FA8"/>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8229600" cy="365760"/>
          </a:xfrm>
          <a:prstGeom prst="rect">
            <a:avLst/>
          </a:prstGeom>
          <a:noFill/>
        </p:spPr>
        <p:txBody>
          <a:bodyPr wrap="square" anchor="t" lIns="0" rIns="0" tIns="0" bIns="0">
            <a:spAutoFit/>
          </a:bodyPr>
          <a:lstStyle/>
          <a:p>
            <a:pPr algn="l"/>
            <a:r>
              <a:rPr sz="1500" b="1" i="0">
                <a:solidFill>
                  <a:srgbClr val="FF9900"/>
                </a:solidFill>
                <a:latin typeface="Segoe UI"/>
              </a:rPr>
              <a:t>BUILT ON KIRO  ·  ON AWS</a:t>
            </a:r>
          </a:p>
        </p:txBody>
      </p:sp>
      <p:sp>
        <p:nvSpPr>
          <p:cNvPr id="5" name="TextBox 4"/>
          <p:cNvSpPr txBox="1"/>
          <p:nvPr/>
        </p:nvSpPr>
        <p:spPr>
          <a:xfrm>
            <a:off x="822960" y="1920240"/>
            <a:ext cx="10607040" cy="2011680"/>
          </a:xfrm>
          <a:prstGeom prst="rect">
            <a:avLst/>
          </a:prstGeom>
          <a:noFill/>
        </p:spPr>
        <p:txBody>
          <a:bodyPr wrap="square" anchor="t" lIns="0" rIns="0" tIns="0" bIns="0">
            <a:spAutoFit/>
          </a:bodyPr>
          <a:lstStyle/>
          <a:p>
            <a:pPr algn="l"/>
            <a:r>
              <a:rPr sz="4200" b="1" i="0">
                <a:solidFill>
                  <a:srgbClr val="FFFFFF"/>
                </a:solidFill>
                <a:latin typeface="Segoe UI"/>
              </a:rPr>
              <a:t>Describe it. Watch the plan. Ship it to AWS.</a:t>
            </a:r>
          </a:p>
        </p:txBody>
      </p:sp>
      <p:sp>
        <p:nvSpPr>
          <p:cNvPr id="6" name="Rounded Rectangle 5"/>
          <p:cNvSpPr/>
          <p:nvPr/>
        </p:nvSpPr>
        <p:spPr>
          <a:xfrm>
            <a:off x="868680" y="4297680"/>
            <a:ext cx="2743200" cy="76200"/>
          </a:xfrm>
          <a:prstGeom prst="round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617720"/>
            <a:ext cx="10058400" cy="731520"/>
          </a:xfrm>
          <a:prstGeom prst="rect">
            <a:avLst/>
          </a:prstGeom>
          <a:noFill/>
        </p:spPr>
        <p:txBody>
          <a:bodyPr wrap="square" anchor="t" lIns="0" rIns="0" tIns="0" bIns="0">
            <a:spAutoFit/>
          </a:bodyPr>
          <a:lstStyle/>
          <a:p>
            <a:pPr algn="l"/>
            <a:r>
              <a:rPr sz="3000" b="1" i="0">
                <a:solidFill>
                  <a:srgbClr val="FF9900"/>
                </a:solidFill>
                <a:latin typeface="Segoe UI"/>
              </a:rPr>
              <a:t>Come build with us.</a:t>
            </a:r>
          </a:p>
        </p:txBody>
      </p:sp>
      <p:sp>
        <p:nvSpPr>
          <p:cNvPr id="8" name="TextBox 7"/>
          <p:cNvSpPr txBox="1"/>
          <p:nvPr/>
        </p:nvSpPr>
        <p:spPr>
          <a:xfrm>
            <a:off x="640080" y="6419088"/>
            <a:ext cx="9144000" cy="320040"/>
          </a:xfrm>
          <a:prstGeom prst="rect">
            <a:avLst/>
          </a:prstGeom>
          <a:noFill/>
        </p:spPr>
        <p:txBody>
          <a:bodyPr wrap="square" anchor="t" lIns="0" rIns="0" tIns="0" bIns="0">
            <a:spAutoFit/>
          </a:bodyPr>
          <a:lstStyle/>
          <a:p>
            <a:pPr algn="l"/>
            <a:r>
              <a:rPr sz="1000" b="0" i="0">
                <a:solidFill>
                  <a:srgbClr val="9A9FA8"/>
                </a:solidFill>
                <a:latin typeface="Segoe UI"/>
              </a:rPr>
              <a:t>Built on Kiro  ·  APS on AWS  ·  Autodesk University 2026</a:t>
            </a:r>
          </a:p>
        </p:txBody>
      </p:sp>
      <p:sp>
        <p:nvSpPr>
          <p:cNvPr id="9" name="TextBox 8"/>
          <p:cNvSpPr txBox="1"/>
          <p:nvPr/>
        </p:nvSpPr>
        <p:spPr>
          <a:xfrm>
            <a:off x="11338560" y="6419088"/>
            <a:ext cx="640080" cy="320040"/>
          </a:xfrm>
          <a:prstGeom prst="rect">
            <a:avLst/>
          </a:prstGeom>
          <a:noFill/>
        </p:spPr>
        <p:txBody>
          <a:bodyPr wrap="square" anchor="t" lIns="0" rIns="0" tIns="0" bIns="0">
            <a:spAutoFit/>
          </a:bodyPr>
          <a:lstStyle/>
          <a:p>
            <a:pPr algn="r"/>
            <a:r>
              <a:rPr sz="1100" b="0" i="0">
                <a:solidFill>
                  <a:srgbClr val="9A9FA8"/>
                </a:solidFill>
                <a:latin typeface="Segoe UI"/>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